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94652"/>
  </p:normalViewPr>
  <p:slideViewPr>
    <p:cSldViewPr snapToGrid="0" snapToObjects="1">
      <p:cViewPr varScale="1">
        <p:scale>
          <a:sx n="120" d="100"/>
          <a:sy n="120" d="100"/>
        </p:scale>
        <p:origin x="18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0987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VLM answers questions about presentation slides that need small details: a label, a value on a chart, how blocks connect. We give it a crop and zoom tool and let it choose the regions. The talk covers what we built, how we measured it, and the result: on the slides we tested, zoom helps less than a bigger single 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drive the project. First, when does zoom help compared with simply giving the model a bigger picture. Second, how good the model is at choosing regions. Third, which errors remain once it can zoom.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is JSON inside the prompt, not native tool calling, because small models break chat-template parsers. The model sees a low-budget overview and either answers or names a box. The box is cut from the original image, so the crop has real pixels, then upsampled to 1280 px. Three guards keep the loop finite: a zoom cap, a repeat-box check by IoU, and a single retry after a format error.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tells us whether zoom is needed at all or a larger picture is enough. C is the fixed-crop baseline. E tests whether letting the model choose when to zoom matters. F separates the effect of the JSON answer format from the effect of zoom.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pool comes from the SlideVQA test split: single-hop questions, one evidence page, answers of at most five words. Because SlideVQA slides are only 1024 px on the long side, we added 40 questions of our own on 2560 px slides, where zoom can recover real detail. The dense slides were chosen for small print, which favours any method that reads small print; we say so in the limitations.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match is strict, so we also report F1 and count format mismatches separately in the error analysis. The paired tests look at the same questions under two modes. With eight pairwise comparisons the Bonferroni-style threshold is about 0.006, and only two comparisons clear it: A to B and B to 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set, 120 questions. B, the whole slide at 1500 tokens, is the most accurate of the six modes. The zoom agent D equals A and F at 0.66 but costs about six times more tokens. E, the forced single box, scores 0.63. D asks for a zoom on 84% of the questions, E by design on 99%. No JSON format errors occurred on test.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compares two modes on the same 120 questions. The marker is the difference in exact match, the bar its 95% bootstrap interval. The two columns on the right give the number of questions only the second and only the first mode answers correctly, and the exact McNemar p value. With a strict threshold of about 0.006 only A to B and B to D count. D against A or F is zero with an interval of about plus or minus 6 points.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answer-type group has 60 questions, so intervals are about plus or minus 12 points. The right panel is not a causal estimate: the model chooses when to zoom, so the questions differ between the two groups.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does a better first look let the agent catch up with B? We ran D with a 768-token overview and, to separate the effect of zoom from the effect of a bigger overview, A with the same overview and no zoom. A at 768 tokens lands within 3 points of B at about half the cost. D at 768 is below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mode on the 120 test questions. The horizontal axis is tokens per question including image, text and generated tokens. The dashed line joins the modes that no other mode beats at equal or lower cost. The intervals overlap for most pairs, so the order inside the group A 768, B, C and D 768 is not established. The clear results are A at 256 below A at 768 and B, and D at 768 below A at 768.</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zoom has real pixels to find: the slides are 2560 px wide. D clearly beats A at 256 tokens, but a bigger first look closes the gap without zoom: A at 768 tokens beats A at 256 by 27.5 points (13 against 2, p = 0.007), the clearest effect in this section. With 20 to 40 questions an interval is about plus or minus 15 to 20 points, so only large gaps count.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 own questions are split into five per detail type: axis label, value on a chart, small text, relation between blocks. They were written from the slides before any model run. Axis labels are the clearest case where reading small print decides the answer: the 256-token view fails, and every mode that sees more pixels reads them.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mode makes 41 errors on the 120 test questions; we sampled 30 per mode with a fixed seed and sorted them by cause from a montage of the slide, the boxes and the crops. no_zoom: the needed text was too small at the overview size. wrong_region: the box misses the evidence or cuts it. format: right in meaning, fails exact match. Scaled to all 41 errors, D has about 14 wrong boxes and 14 format mismatches. Categories were assigned in one pass by an AI assistant and checked by one of the authors; shares come from samples of 30, so each count is uncertain by several errors.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is a replay record from the demo: left the slide with the numbered box the model chose, right the crop it received. The second case comes from the live run in the demo. The answer is right, but the box does not contain the number, so a correct answer does not prove that the model looked in the right place. This is why the error analysis checks boxes and not only answers.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limitation matters most: on SlideVQA the original image has no more detail than a 768-token view, so the test is unfavourable to zoom by construction. That is why we added the 2560 px slides.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version: the model can read boxes in the right coordinate space and a crop does give it detail, but choosing the region is the weak step. When the first look is already large enough, zoom adds cost and loses accuracy.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8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7243B"/>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17243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7243B"/>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17243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43B"/>
        </a:solidFill>
        <a:effectLst/>
      </p:bgPr>
    </p:bg>
    <p:spTree>
      <p:nvGrpSpPr>
        <p:cNvPr id="1" name=""/>
        <p:cNvGrpSpPr/>
        <p:nvPr/>
      </p:nvGrpSpPr>
      <p:grpSpPr>
        <a:xfrm>
          <a:off x="0" y="0"/>
          <a:ext cx="0" cy="0"/>
          <a:chOff x="0" y="0"/>
          <a:chExt cx="0" cy="0"/>
        </a:xfrm>
      </p:grpSpPr>
      <p:pic>
        <p:nvPicPr>
          <p:cNvPr id="2" name="Image 0" descr="Search"/>
          <p:cNvPicPr>
            <a:picLocks noChangeAspect="1"/>
          </p:cNvPicPr>
          <p:nvPr/>
        </p:nvPicPr>
        <p:blipFill>
          <a:blip r:embed="rId3"/>
          <a:srcRect/>
          <a:stretch/>
        </p:blipFill>
        <p:spPr>
          <a:xfrm>
            <a:off x="8890000" y="1905000"/>
            <a:ext cx="2286000" cy="2286000"/>
          </a:xfrm>
          <a:prstGeom prst="rect">
            <a:avLst/>
          </a:prstGeom>
        </p:spPr>
      </p:pic>
      <p:sp>
        <p:nvSpPr>
          <p:cNvPr id="3" name="Text 0"/>
          <p:cNvSpPr/>
          <p:nvPr/>
        </p:nvSpPr>
        <p:spPr>
          <a:xfrm>
            <a:off x="812800" y="1675805"/>
            <a:ext cx="7717790"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8DB6F2"/>
                </a:solidFill>
                <a:latin typeface="IBM Plex Sans" pitchFamily="34" charset="0"/>
                <a:ea typeface="IBM Plex Sans" pitchFamily="34" charset="-122"/>
                <a:cs typeface="IBM Plex Sans" pitchFamily="34" charset="-120"/>
              </a:rPr>
              <a:t>MODERN METHODS AND ALGORITHMS OF GENERATIVE AI · COURSE PROJECT</a:t>
            </a:r>
            <a:endParaRPr lang="en-US" sz="1400" dirty="0"/>
          </a:p>
        </p:txBody>
      </p:sp>
      <p:sp>
        <p:nvSpPr>
          <p:cNvPr id="4" name="Text 1"/>
          <p:cNvSpPr>
            <a:spLocks noGrp="1"/>
          </p:cNvSpPr>
          <p:nvPr>
            <p:ph type="title"/>
          </p:nvPr>
        </p:nvSpPr>
        <p:spPr>
          <a:xfrm>
            <a:off x="812800" y="2127895"/>
            <a:ext cx="7717790" cy="1358900"/>
          </a:xfrm>
          <a:prstGeom prst="rect">
            <a:avLst/>
          </a:prstGeom>
          <a:noFill/>
          <a:ln/>
        </p:spPr>
        <p:txBody>
          <a:bodyPr wrap="square" lIns="0" tIns="0" rIns="0" bIns="0" rtlCol="0" anchor="t">
            <a:normAutofit/>
          </a:bodyPr>
          <a:lstStyle/>
          <a:p>
            <a:pPr marL="0" indent="0" algn="l">
              <a:lnSpc>
                <a:spcPts val="5250"/>
              </a:lnSpc>
              <a:buNone/>
            </a:pPr>
            <a:r>
              <a:rPr lang="en-US" sz="5000" b="1" i="0" dirty="0">
                <a:solidFill>
                  <a:srgbClr val="FAF8F3"/>
                </a:solidFill>
                <a:latin typeface="Source Serif 4" pitchFamily="18" charset="0"/>
                <a:ea typeface="Source Serif 4" pitchFamily="18" charset="-122"/>
                <a:cs typeface="Source Serif 4" pitchFamily="18" charset="-120"/>
              </a:rPr>
              <a:t>Slides under a magnifying glass</a:t>
            </a:r>
            <a:endParaRPr lang="en-US" sz="5000" dirty="0"/>
          </a:p>
        </p:txBody>
      </p:sp>
      <p:sp>
        <p:nvSpPr>
          <p:cNvPr id="5" name="Text 2"/>
          <p:cNvSpPr/>
          <p:nvPr/>
        </p:nvSpPr>
        <p:spPr>
          <a:xfrm>
            <a:off x="812800" y="3664595"/>
            <a:ext cx="7717790" cy="37465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C9D3E3"/>
                </a:solidFill>
                <a:latin typeface="IBM Plex Sans" pitchFamily="34" charset="0"/>
                <a:ea typeface="IBM Plex Sans" pitchFamily="34" charset="-122"/>
                <a:cs typeface="IBM Plex Sans" pitchFamily="34" charset="-120"/>
              </a:rPr>
              <a:t>A vision-language model with crop and zoom</a:t>
            </a:r>
            <a:endParaRPr lang="en-US" sz="2200" dirty="0"/>
          </a:p>
        </p:txBody>
      </p:sp>
      <p:pic>
        <p:nvPicPr>
          <p:cNvPr id="6" name="Image 1" descr="line"/>
          <p:cNvPicPr>
            <a:picLocks noChangeAspect="1"/>
          </p:cNvPicPr>
          <p:nvPr/>
        </p:nvPicPr>
        <p:blipFill>
          <a:blip r:embed="rId4"/>
          <a:srcRect/>
          <a:stretch/>
        </p:blipFill>
        <p:spPr>
          <a:xfrm>
            <a:off x="812800" y="4217045"/>
            <a:ext cx="1016000" cy="25400"/>
          </a:xfrm>
          <a:prstGeom prst="rect">
            <a:avLst/>
          </a:prstGeom>
        </p:spPr>
      </p:pic>
      <p:sp>
        <p:nvSpPr>
          <p:cNvPr id="7" name="Text 3"/>
          <p:cNvSpPr/>
          <p:nvPr/>
        </p:nvSpPr>
        <p:spPr>
          <a:xfrm>
            <a:off x="812800" y="4445645"/>
            <a:ext cx="771779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AF8F3"/>
                </a:solidFill>
                <a:latin typeface="IBM Plex Sans" pitchFamily="34" charset="0"/>
                <a:ea typeface="IBM Plex Sans" pitchFamily="34" charset="-122"/>
                <a:cs typeface="IBM Plex Sans" pitchFamily="34" charset="-120"/>
              </a:rPr>
              <a:t>Vladislav Voronin, Pavel Vasilevykh</a:t>
            </a:r>
            <a:endParaRPr lang="en-US" sz="1600" dirty="0"/>
          </a:p>
        </p:txBody>
      </p:sp>
      <p:sp>
        <p:nvSpPr>
          <p:cNvPr id="8" name="Text 4"/>
          <p:cNvSpPr/>
          <p:nvPr/>
        </p:nvSpPr>
        <p:spPr>
          <a:xfrm>
            <a:off x="812800" y="4755505"/>
            <a:ext cx="771779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EBBD0"/>
                </a:solidFill>
                <a:latin typeface="IBM Plex Sans" pitchFamily="34" charset="0"/>
                <a:ea typeface="IBM Plex Sans" pitchFamily="34" charset="-122"/>
                <a:cs typeface="IBM Plex Sans" pitchFamily="34" charset="-120"/>
              </a:rPr>
              <a:t>AIFT’27</a:t>
            </a:r>
            <a:endParaRPr lang="en-US" sz="1400" dirty="0"/>
          </a:p>
        </p:txBody>
      </p:sp>
      <p:sp>
        <p:nvSpPr>
          <p:cNvPr id="10" name="TextBox 9">
            <a:extLst>
              <a:ext uri="{FF2B5EF4-FFF2-40B4-BE49-F238E27FC236}">
                <a16:creationId xmlns:a16="http://schemas.microsoft.com/office/drawing/2014/main" id="{CEB6E3C3-6AC3-22F1-20A7-21CB2AAF65B0}"/>
              </a:ext>
            </a:extLst>
          </p:cNvPr>
          <p:cNvSpPr txBox="1"/>
          <p:nvPr/>
        </p:nvSpPr>
        <p:spPr>
          <a:xfrm>
            <a:off x="3048886" y="3105835"/>
            <a:ext cx="6097772" cy="646331"/>
          </a:xfrm>
          <a:prstGeom prst="rect">
            <a:avLst/>
          </a:prstGeom>
          <a:noFill/>
        </p:spPr>
        <p:txBody>
          <a:bodyPr wrap="square">
            <a:spAutoFit/>
          </a:bodyPr>
          <a:lstStyle/>
          <a:p>
            <a:r>
              <a:rPr lang="en-US" dirty="0" err="1"/>
              <a:t>забыл</a:t>
            </a:r>
            <a:r>
              <a:rPr lang="en-US" dirty="0"/>
              <a:t> </a:t>
            </a:r>
            <a:r>
              <a:rPr lang="en-US" dirty="0" err="1"/>
              <a:t>упомянуть</a:t>
            </a:r>
            <a:r>
              <a:rPr lang="en-US" dirty="0"/>
              <a:t>, </a:t>
            </a:r>
            <a:r>
              <a:rPr lang="en-US" dirty="0" err="1"/>
              <a:t>выступление</a:t>
            </a:r>
            <a:r>
              <a:rPr lang="en-US" dirty="0"/>
              <a:t> </a:t>
            </a:r>
            <a:r>
              <a:rPr lang="en-US" dirty="0" err="1"/>
              <a:t>будет</a:t>
            </a:r>
            <a:r>
              <a:rPr lang="en-US" dirty="0"/>
              <a:t> </a:t>
            </a:r>
            <a:r>
              <a:rPr lang="en-US" dirty="0" err="1"/>
              <a:t>на</a:t>
            </a:r>
            <a:r>
              <a:rPr lang="en-US" dirty="0"/>
              <a:t> </a:t>
            </a:r>
            <a:r>
              <a:rPr lang="en-US" dirty="0" err="1"/>
              <a:t>английском</a:t>
            </a:r>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Research questions</a:t>
            </a:r>
            <a:endParaRPr lang="en-US" sz="3000" dirty="0"/>
          </a:p>
        </p:txBody>
      </p:sp>
      <p:sp>
        <p:nvSpPr>
          <p:cNvPr id="3" name="Text 1"/>
          <p:cNvSpPr/>
          <p:nvPr/>
        </p:nvSpPr>
        <p:spPr>
          <a:xfrm>
            <a:off x="812800" y="1485900"/>
            <a:ext cx="981075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3C4656"/>
                </a:solidFill>
                <a:latin typeface="IBM Plex Sans" pitchFamily="34" charset="0"/>
                <a:ea typeface="IBM Plex Sans" pitchFamily="34" charset="-122"/>
                <a:cs typeface="IBM Plex Sans" pitchFamily="34" charset="-120"/>
              </a:rPr>
              <a:t>Small vision-language models read slides at low resolution and miss small labels. A crop tool can give them the pixels back, if the model asks for the right region.</a:t>
            </a:r>
            <a:endParaRPr lang="en-US" sz="1800" dirty="0"/>
          </a:p>
        </p:txBody>
      </p:sp>
      <p:sp>
        <p:nvSpPr>
          <p:cNvPr id="4" name="Shape 2"/>
          <p:cNvSpPr/>
          <p:nvPr/>
        </p:nvSpPr>
        <p:spPr>
          <a:xfrm>
            <a:off x="815975" y="2360216"/>
            <a:ext cx="3380284" cy="2252911"/>
          </a:xfrm>
          <a:prstGeom prst="roundRect">
            <a:avLst>
              <a:gd name="adj" fmla="val 4369"/>
            </a:avLst>
          </a:prstGeom>
          <a:solidFill>
            <a:srgbClr val="FFFFFF"/>
          </a:solidFill>
          <a:ln w="6350">
            <a:solidFill>
              <a:srgbClr val="DDD8CC"/>
            </a:solidFill>
            <a:prstDash val="solid"/>
          </a:ln>
        </p:spPr>
      </p:sp>
      <p:sp>
        <p:nvSpPr>
          <p:cNvPr id="5" name="Text 3"/>
          <p:cNvSpPr/>
          <p:nvPr/>
        </p:nvSpPr>
        <p:spPr>
          <a:xfrm>
            <a:off x="1047750" y="2591991"/>
            <a:ext cx="3004236"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1F5FBF"/>
                </a:solidFill>
                <a:latin typeface="IBM Plex Sans" pitchFamily="34" charset="0"/>
                <a:ea typeface="IBM Plex Sans" pitchFamily="34" charset="-122"/>
                <a:cs typeface="IBM Plex Sans" pitchFamily="34" charset="-120"/>
              </a:rPr>
              <a:t>RQ1</a:t>
            </a:r>
            <a:endParaRPr lang="en-US" sz="1300" dirty="0"/>
          </a:p>
        </p:txBody>
      </p:sp>
      <p:sp>
        <p:nvSpPr>
          <p:cNvPr id="6" name="Text 4"/>
          <p:cNvSpPr/>
          <p:nvPr/>
        </p:nvSpPr>
        <p:spPr>
          <a:xfrm>
            <a:off x="1047750" y="2924721"/>
            <a:ext cx="3004236" cy="302865"/>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17243B"/>
                </a:solidFill>
                <a:latin typeface="Source Serif 4" pitchFamily="18" charset="0"/>
                <a:ea typeface="Source Serif 4" pitchFamily="18" charset="-122"/>
                <a:cs typeface="Source Serif 4" pitchFamily="18" charset="-120"/>
              </a:rPr>
              <a:t>When does zoom help?</a:t>
            </a:r>
            <a:endParaRPr lang="en-US" sz="1900" dirty="0"/>
          </a:p>
        </p:txBody>
      </p:sp>
      <p:sp>
        <p:nvSpPr>
          <p:cNvPr id="7" name="Text 5"/>
          <p:cNvSpPr/>
          <p:nvPr/>
        </p:nvSpPr>
        <p:spPr>
          <a:xfrm>
            <a:off x="1047750" y="3303786"/>
            <a:ext cx="300423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56"/>
                </a:solidFill>
                <a:latin typeface="IBM Plex Sans" pitchFamily="34" charset="0"/>
                <a:ea typeface="IBM Plex Sans" pitchFamily="34" charset="-122"/>
                <a:cs typeface="IBM Plex Sans" pitchFamily="34" charset="-120"/>
              </a:rPr>
              <a:t>Compare the zoom agent with the same slide at a larger budget and with fixed tiles.</a:t>
            </a:r>
            <a:endParaRPr lang="en-US" sz="1500" dirty="0"/>
          </a:p>
        </p:txBody>
      </p:sp>
      <p:sp>
        <p:nvSpPr>
          <p:cNvPr id="8" name="Shape 6"/>
          <p:cNvSpPr/>
          <p:nvPr/>
        </p:nvSpPr>
        <p:spPr>
          <a:xfrm>
            <a:off x="4405809" y="2360216"/>
            <a:ext cx="3380333" cy="2252911"/>
          </a:xfrm>
          <a:prstGeom prst="roundRect">
            <a:avLst>
              <a:gd name="adj" fmla="val 4369"/>
            </a:avLst>
          </a:prstGeom>
          <a:solidFill>
            <a:srgbClr val="FFFFFF"/>
          </a:solidFill>
          <a:ln w="6350">
            <a:solidFill>
              <a:srgbClr val="DDD8CC"/>
            </a:solidFill>
            <a:prstDash val="solid"/>
          </a:ln>
        </p:spPr>
        <p:txBody>
          <a:bodyPr/>
          <a:lstStyle/>
          <a:p>
            <a:endParaRPr lang="en-US" dirty="0"/>
          </a:p>
        </p:txBody>
      </p:sp>
      <p:sp>
        <p:nvSpPr>
          <p:cNvPr id="9" name="Text 7"/>
          <p:cNvSpPr/>
          <p:nvPr/>
        </p:nvSpPr>
        <p:spPr>
          <a:xfrm>
            <a:off x="4637584" y="2591991"/>
            <a:ext cx="3004287"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1F5FBF"/>
                </a:solidFill>
                <a:latin typeface="IBM Plex Sans" pitchFamily="34" charset="0"/>
                <a:ea typeface="IBM Plex Sans" pitchFamily="34" charset="-122"/>
                <a:cs typeface="IBM Plex Sans" pitchFamily="34" charset="-120"/>
              </a:rPr>
              <a:t>RQ2</a:t>
            </a:r>
            <a:endParaRPr lang="en-US" sz="1300" dirty="0"/>
          </a:p>
        </p:txBody>
      </p:sp>
      <p:sp>
        <p:nvSpPr>
          <p:cNvPr id="10" name="Text 8"/>
          <p:cNvSpPr/>
          <p:nvPr/>
        </p:nvSpPr>
        <p:spPr>
          <a:xfrm>
            <a:off x="4637584" y="2924721"/>
            <a:ext cx="3004287" cy="580330"/>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17243B"/>
                </a:solidFill>
                <a:latin typeface="Source Serif 4" pitchFamily="18" charset="0"/>
                <a:ea typeface="Source Serif 4" pitchFamily="18" charset="-122"/>
                <a:cs typeface="Source Serif 4" pitchFamily="18" charset="-120"/>
              </a:rPr>
              <a:t>Where does the model look?</a:t>
            </a:r>
            <a:endParaRPr lang="en-US" sz="1900" dirty="0"/>
          </a:p>
        </p:txBody>
      </p:sp>
      <p:sp>
        <p:nvSpPr>
          <p:cNvPr id="11" name="Text 9"/>
          <p:cNvSpPr/>
          <p:nvPr/>
        </p:nvSpPr>
        <p:spPr>
          <a:xfrm>
            <a:off x="4637583" y="3303786"/>
            <a:ext cx="3004287"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56"/>
                </a:solidFill>
                <a:latin typeface="IBM Plex Sans" pitchFamily="34" charset="0"/>
                <a:ea typeface="IBM Plex Sans" pitchFamily="34" charset="-122"/>
                <a:cs typeface="IBM Plex Sans" pitchFamily="34" charset="-120"/>
              </a:rPr>
              <a:t>Check whether the boxes it picks sit on the evidence, and whether it zooms when it should.</a:t>
            </a:r>
            <a:endParaRPr lang="en-US" sz="1500" dirty="0"/>
          </a:p>
        </p:txBody>
      </p:sp>
      <p:sp>
        <p:nvSpPr>
          <p:cNvPr id="12" name="Shape 10"/>
          <p:cNvSpPr/>
          <p:nvPr/>
        </p:nvSpPr>
        <p:spPr>
          <a:xfrm>
            <a:off x="7995692" y="2360216"/>
            <a:ext cx="3380333" cy="2252911"/>
          </a:xfrm>
          <a:prstGeom prst="roundRect">
            <a:avLst>
              <a:gd name="adj" fmla="val 4369"/>
            </a:avLst>
          </a:prstGeom>
          <a:solidFill>
            <a:srgbClr val="FFFFFF"/>
          </a:solidFill>
          <a:ln w="6350">
            <a:solidFill>
              <a:srgbClr val="DDD8CC"/>
            </a:solidFill>
            <a:prstDash val="solid"/>
          </a:ln>
        </p:spPr>
      </p:sp>
      <p:sp>
        <p:nvSpPr>
          <p:cNvPr id="13" name="Text 11"/>
          <p:cNvSpPr/>
          <p:nvPr/>
        </p:nvSpPr>
        <p:spPr>
          <a:xfrm>
            <a:off x="8227467" y="2591991"/>
            <a:ext cx="3004287"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1F5FBF"/>
                </a:solidFill>
                <a:latin typeface="IBM Plex Sans" pitchFamily="34" charset="0"/>
                <a:ea typeface="IBM Plex Sans" pitchFamily="34" charset="-122"/>
                <a:cs typeface="IBM Plex Sans" pitchFamily="34" charset="-120"/>
              </a:rPr>
              <a:t>RQ3</a:t>
            </a:r>
            <a:endParaRPr lang="en-US" sz="1300" dirty="0"/>
          </a:p>
        </p:txBody>
      </p:sp>
      <p:sp>
        <p:nvSpPr>
          <p:cNvPr id="14" name="Text 12"/>
          <p:cNvSpPr/>
          <p:nvPr/>
        </p:nvSpPr>
        <p:spPr>
          <a:xfrm>
            <a:off x="8227467" y="2924721"/>
            <a:ext cx="3004287" cy="302865"/>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17243B"/>
                </a:solidFill>
                <a:latin typeface="Source Serif 4" pitchFamily="18" charset="0"/>
                <a:ea typeface="Source Serif 4" pitchFamily="18" charset="-122"/>
                <a:cs typeface="Source Serif 4" pitchFamily="18" charset="-120"/>
              </a:rPr>
              <a:t>What errors remain?</a:t>
            </a:r>
            <a:endParaRPr lang="en-US" sz="1900" dirty="0"/>
          </a:p>
        </p:txBody>
      </p:sp>
      <p:sp>
        <p:nvSpPr>
          <p:cNvPr id="15" name="Text 13"/>
          <p:cNvSpPr/>
          <p:nvPr/>
        </p:nvSpPr>
        <p:spPr>
          <a:xfrm>
            <a:off x="8227467" y="3303786"/>
            <a:ext cx="3004287"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56"/>
                </a:solidFill>
                <a:latin typeface="IBM Plex Sans" pitchFamily="34" charset="0"/>
                <a:ea typeface="IBM Plex Sans" pitchFamily="34" charset="-122"/>
                <a:cs typeface="IBM Plex Sans" pitchFamily="34" charset="-120"/>
              </a:rPr>
              <a:t>Sort the wrong answers into causes: no zoom, wrong region, misread text, format, reasoning.</a:t>
            </a:r>
            <a:endParaRPr lang="en-US" sz="1500" dirty="0"/>
          </a:p>
        </p:txBody>
      </p:sp>
      <p:sp>
        <p:nvSpPr>
          <p:cNvPr id="16" name="Text 14"/>
          <p:cNvSpPr/>
          <p:nvPr/>
        </p:nvSpPr>
        <p:spPr>
          <a:xfrm>
            <a:off x="812800" y="4870301"/>
            <a:ext cx="98107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7380"/>
                </a:solidFill>
                <a:latin typeface="IBM Plex Sans" pitchFamily="34" charset="0"/>
                <a:ea typeface="IBM Plex Sans" pitchFamily="34" charset="-122"/>
                <a:cs typeface="IBM Plex Sans" pitchFamily="34" charset="-120"/>
              </a:rPr>
              <a:t>Model: Qwen3-VL-4B-Instruct, 4-bit.</a:t>
            </a:r>
            <a:endParaRPr lang="en-US" sz="14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8" name="Text 16"/>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The zoom agent</a:t>
            </a:r>
            <a:endParaRPr lang="en-US" sz="3000" dirty="0"/>
          </a:p>
        </p:txBody>
      </p:sp>
      <p:sp>
        <p:nvSpPr>
          <p:cNvPr id="3" name="Shape 1"/>
          <p:cNvSpPr/>
          <p:nvPr/>
        </p:nvSpPr>
        <p:spPr>
          <a:xfrm>
            <a:off x="815975" y="1609080"/>
            <a:ext cx="2178050" cy="1520130"/>
          </a:xfrm>
          <a:prstGeom prst="roundRect">
            <a:avLst>
              <a:gd name="adj" fmla="val 6475"/>
            </a:avLst>
          </a:prstGeom>
          <a:solidFill>
            <a:srgbClr val="FFFFFF"/>
          </a:solidFill>
          <a:ln w="6350">
            <a:solidFill>
              <a:srgbClr val="DDD8CC"/>
            </a:solidFill>
            <a:prstDash val="solid"/>
          </a:ln>
        </p:spPr>
      </p:sp>
      <p:sp>
        <p:nvSpPr>
          <p:cNvPr id="4" name="Text 2"/>
          <p:cNvSpPr/>
          <p:nvPr/>
        </p:nvSpPr>
        <p:spPr>
          <a:xfrm>
            <a:off x="1022350" y="1815455"/>
            <a:ext cx="181825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BF"/>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022350" y="2122785"/>
            <a:ext cx="18182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43B"/>
                </a:solidFill>
                <a:latin typeface="IBM Plex Sans" pitchFamily="34" charset="0"/>
                <a:ea typeface="IBM Plex Sans" pitchFamily="34" charset="-122"/>
                <a:cs typeface="IBM Plex Sans" pitchFamily="34" charset="-120"/>
              </a:rPr>
              <a:t>Overview</a:t>
            </a:r>
            <a:endParaRPr lang="en-US" sz="1600" dirty="0"/>
          </a:p>
        </p:txBody>
      </p:sp>
      <p:sp>
        <p:nvSpPr>
          <p:cNvPr id="6" name="Text 4"/>
          <p:cNvSpPr/>
          <p:nvPr/>
        </p:nvSpPr>
        <p:spPr>
          <a:xfrm>
            <a:off x="1022350" y="2442815"/>
            <a:ext cx="1818259"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Slide downscaled to 256 visual tokens</a:t>
            </a:r>
            <a:endParaRPr lang="en-US" sz="1400" dirty="0"/>
          </a:p>
        </p:txBody>
      </p:sp>
      <p:pic>
        <p:nvPicPr>
          <p:cNvPr id="7" name="Image 0" descr="arrow-right"/>
          <p:cNvPicPr>
            <a:picLocks noChangeAspect="1"/>
          </p:cNvPicPr>
          <p:nvPr/>
        </p:nvPicPr>
        <p:blipFill>
          <a:blip r:embed="rId3"/>
          <a:srcRect/>
          <a:stretch/>
        </p:blipFill>
        <p:spPr>
          <a:xfrm>
            <a:off x="3124200" y="2267545"/>
            <a:ext cx="355600" cy="203200"/>
          </a:xfrm>
          <a:prstGeom prst="rect">
            <a:avLst/>
          </a:prstGeom>
        </p:spPr>
      </p:pic>
      <p:sp>
        <p:nvSpPr>
          <p:cNvPr id="8" name="Shape 5"/>
          <p:cNvSpPr/>
          <p:nvPr/>
        </p:nvSpPr>
        <p:spPr>
          <a:xfrm>
            <a:off x="3609975" y="1609080"/>
            <a:ext cx="2178050" cy="1520130"/>
          </a:xfrm>
          <a:prstGeom prst="roundRect">
            <a:avLst>
              <a:gd name="adj" fmla="val 6475"/>
            </a:avLst>
          </a:prstGeom>
          <a:solidFill>
            <a:srgbClr val="FFFFFF"/>
          </a:solidFill>
          <a:ln w="6350">
            <a:solidFill>
              <a:srgbClr val="DDD8CC"/>
            </a:solidFill>
            <a:prstDash val="solid"/>
          </a:ln>
        </p:spPr>
      </p:sp>
      <p:sp>
        <p:nvSpPr>
          <p:cNvPr id="9" name="Text 6"/>
          <p:cNvSpPr/>
          <p:nvPr/>
        </p:nvSpPr>
        <p:spPr>
          <a:xfrm>
            <a:off x="3816350" y="1815455"/>
            <a:ext cx="181825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BF"/>
                </a:solidFill>
                <a:latin typeface="IBM Plex Sans" pitchFamily="34" charset="0"/>
                <a:ea typeface="IBM Plex Sans" pitchFamily="34" charset="-122"/>
                <a:cs typeface="IBM Plex Sans" pitchFamily="34" charset="-120"/>
              </a:rPr>
              <a:t>2</a:t>
            </a:r>
            <a:endParaRPr lang="en-US" sz="1300" dirty="0"/>
          </a:p>
        </p:txBody>
      </p:sp>
      <p:sp>
        <p:nvSpPr>
          <p:cNvPr id="10" name="Text 7"/>
          <p:cNvSpPr/>
          <p:nvPr/>
        </p:nvSpPr>
        <p:spPr>
          <a:xfrm>
            <a:off x="3816350" y="2122785"/>
            <a:ext cx="18182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43B"/>
                </a:solidFill>
                <a:latin typeface="IBM Plex Sans" pitchFamily="34" charset="0"/>
                <a:ea typeface="IBM Plex Sans" pitchFamily="34" charset="-122"/>
                <a:cs typeface="IBM Plex Sans" pitchFamily="34" charset="-120"/>
              </a:rPr>
              <a:t>Model reply</a:t>
            </a:r>
            <a:endParaRPr lang="en-US" sz="1600" dirty="0"/>
          </a:p>
        </p:txBody>
      </p:sp>
      <p:sp>
        <p:nvSpPr>
          <p:cNvPr id="11" name="Text 8"/>
          <p:cNvSpPr/>
          <p:nvPr/>
        </p:nvSpPr>
        <p:spPr>
          <a:xfrm>
            <a:off x="3816350" y="2442815"/>
            <a:ext cx="1818259"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One JSON object: zoom or answer</a:t>
            </a:r>
            <a:endParaRPr lang="en-US" sz="1400" dirty="0"/>
          </a:p>
        </p:txBody>
      </p:sp>
      <p:pic>
        <p:nvPicPr>
          <p:cNvPr id="12" name="Image 1" descr="arrow-right"/>
          <p:cNvPicPr>
            <a:picLocks noChangeAspect="1"/>
          </p:cNvPicPr>
          <p:nvPr/>
        </p:nvPicPr>
        <p:blipFill>
          <a:blip r:embed="rId3"/>
          <a:srcRect/>
          <a:stretch/>
        </p:blipFill>
        <p:spPr>
          <a:xfrm>
            <a:off x="5918200" y="2267545"/>
            <a:ext cx="355600" cy="203200"/>
          </a:xfrm>
          <a:prstGeom prst="rect">
            <a:avLst/>
          </a:prstGeom>
        </p:spPr>
      </p:pic>
      <p:sp>
        <p:nvSpPr>
          <p:cNvPr id="13" name="Shape 9"/>
          <p:cNvSpPr/>
          <p:nvPr/>
        </p:nvSpPr>
        <p:spPr>
          <a:xfrm>
            <a:off x="6403975" y="1489075"/>
            <a:ext cx="2178050" cy="1760141"/>
          </a:xfrm>
          <a:prstGeom prst="roundRect">
            <a:avLst>
              <a:gd name="adj" fmla="val 5592"/>
            </a:avLst>
          </a:prstGeom>
          <a:solidFill>
            <a:srgbClr val="FFFFFF"/>
          </a:solidFill>
          <a:ln w="6350">
            <a:solidFill>
              <a:srgbClr val="DDD8CC"/>
            </a:solidFill>
            <a:prstDash val="solid"/>
          </a:ln>
        </p:spPr>
      </p:sp>
      <p:sp>
        <p:nvSpPr>
          <p:cNvPr id="14" name="Text 10"/>
          <p:cNvSpPr/>
          <p:nvPr/>
        </p:nvSpPr>
        <p:spPr>
          <a:xfrm>
            <a:off x="6610350" y="1695450"/>
            <a:ext cx="181825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BF"/>
                </a:solidFill>
                <a:latin typeface="IBM Plex Sans" pitchFamily="34" charset="0"/>
                <a:ea typeface="IBM Plex Sans" pitchFamily="34" charset="-122"/>
                <a:cs typeface="IBM Plex Sans" pitchFamily="34" charset="-120"/>
              </a:rPr>
              <a:t>3</a:t>
            </a:r>
            <a:endParaRPr lang="en-US" sz="1300" dirty="0"/>
          </a:p>
        </p:txBody>
      </p:sp>
      <p:sp>
        <p:nvSpPr>
          <p:cNvPr id="15" name="Text 11"/>
          <p:cNvSpPr/>
          <p:nvPr/>
        </p:nvSpPr>
        <p:spPr>
          <a:xfrm>
            <a:off x="6610350" y="2002780"/>
            <a:ext cx="18182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43B"/>
                </a:solidFill>
                <a:latin typeface="IBM Plex Sans" pitchFamily="34" charset="0"/>
                <a:ea typeface="IBM Plex Sans" pitchFamily="34" charset="-122"/>
                <a:cs typeface="IBM Plex Sans" pitchFamily="34" charset="-120"/>
              </a:rPr>
              <a:t>Crop</a:t>
            </a:r>
            <a:endParaRPr lang="en-US" sz="1600" dirty="0"/>
          </a:p>
        </p:txBody>
      </p:sp>
      <p:sp>
        <p:nvSpPr>
          <p:cNvPr id="16" name="Text 12"/>
          <p:cNvSpPr/>
          <p:nvPr/>
        </p:nvSpPr>
        <p:spPr>
          <a:xfrm>
            <a:off x="6610350" y="2322810"/>
            <a:ext cx="1818259"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Box cut from the original, upsampled to 1280 px</a:t>
            </a:r>
            <a:endParaRPr lang="en-US" sz="1400" dirty="0"/>
          </a:p>
        </p:txBody>
      </p:sp>
      <p:pic>
        <p:nvPicPr>
          <p:cNvPr id="17" name="Image 2" descr="arrow-right"/>
          <p:cNvPicPr>
            <a:picLocks noChangeAspect="1"/>
          </p:cNvPicPr>
          <p:nvPr/>
        </p:nvPicPr>
        <p:blipFill>
          <a:blip r:embed="rId3"/>
          <a:srcRect/>
          <a:stretch/>
        </p:blipFill>
        <p:spPr>
          <a:xfrm>
            <a:off x="8712200" y="2267545"/>
            <a:ext cx="355600" cy="203200"/>
          </a:xfrm>
          <a:prstGeom prst="rect">
            <a:avLst/>
          </a:prstGeom>
        </p:spPr>
      </p:pic>
      <p:sp>
        <p:nvSpPr>
          <p:cNvPr id="18" name="Shape 13"/>
          <p:cNvSpPr/>
          <p:nvPr/>
        </p:nvSpPr>
        <p:spPr>
          <a:xfrm>
            <a:off x="9197975" y="1609080"/>
            <a:ext cx="2178050" cy="1520130"/>
          </a:xfrm>
          <a:prstGeom prst="roundRect">
            <a:avLst>
              <a:gd name="adj" fmla="val 6475"/>
            </a:avLst>
          </a:prstGeom>
          <a:solidFill>
            <a:srgbClr val="FFFFFF"/>
          </a:solidFill>
          <a:ln w="6350">
            <a:solidFill>
              <a:srgbClr val="DDD8CC"/>
            </a:solidFill>
            <a:prstDash val="solid"/>
          </a:ln>
        </p:spPr>
      </p:sp>
      <p:sp>
        <p:nvSpPr>
          <p:cNvPr id="19" name="Text 14"/>
          <p:cNvSpPr/>
          <p:nvPr/>
        </p:nvSpPr>
        <p:spPr>
          <a:xfrm>
            <a:off x="9404350" y="1815455"/>
            <a:ext cx="181825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BF"/>
                </a:solidFill>
                <a:latin typeface="IBM Plex Sans" pitchFamily="34" charset="0"/>
                <a:ea typeface="IBM Plex Sans" pitchFamily="34" charset="-122"/>
                <a:cs typeface="IBM Plex Sans" pitchFamily="34" charset="-120"/>
              </a:rPr>
              <a:t>4</a:t>
            </a:r>
            <a:endParaRPr lang="en-US" sz="1300" dirty="0"/>
          </a:p>
        </p:txBody>
      </p:sp>
      <p:sp>
        <p:nvSpPr>
          <p:cNvPr id="20" name="Text 15"/>
          <p:cNvSpPr/>
          <p:nvPr/>
        </p:nvSpPr>
        <p:spPr>
          <a:xfrm>
            <a:off x="9404350" y="2122785"/>
            <a:ext cx="18182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43B"/>
                </a:solidFill>
                <a:latin typeface="IBM Plex Sans" pitchFamily="34" charset="0"/>
                <a:ea typeface="IBM Plex Sans" pitchFamily="34" charset="-122"/>
                <a:cs typeface="IBM Plex Sans" pitchFamily="34" charset="-120"/>
              </a:rPr>
              <a:t>Decide</a:t>
            </a:r>
            <a:endParaRPr lang="en-US" sz="1600" dirty="0"/>
          </a:p>
        </p:txBody>
      </p:sp>
      <p:sp>
        <p:nvSpPr>
          <p:cNvPr id="21" name="Text 16"/>
          <p:cNvSpPr/>
          <p:nvPr/>
        </p:nvSpPr>
        <p:spPr>
          <a:xfrm>
            <a:off x="9404350" y="2442815"/>
            <a:ext cx="1818259"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Answer, or request another region</a:t>
            </a:r>
            <a:endParaRPr lang="en-US" sz="1400" dirty="0"/>
          </a:p>
        </p:txBody>
      </p:sp>
      <p:sp>
        <p:nvSpPr>
          <p:cNvPr id="22" name="Shape 17"/>
          <p:cNvSpPr/>
          <p:nvPr/>
        </p:nvSpPr>
        <p:spPr>
          <a:xfrm>
            <a:off x="812800" y="3506391"/>
            <a:ext cx="5175250" cy="1831330"/>
          </a:xfrm>
          <a:prstGeom prst="roundRect">
            <a:avLst>
              <a:gd name="adj" fmla="val 5548"/>
            </a:avLst>
          </a:prstGeom>
          <a:solidFill>
            <a:srgbClr val="17243B"/>
          </a:solidFill>
          <a:ln/>
        </p:spPr>
      </p:sp>
      <p:sp>
        <p:nvSpPr>
          <p:cNvPr id="23" name="Text 18"/>
          <p:cNvSpPr/>
          <p:nvPr/>
        </p:nvSpPr>
        <p:spPr>
          <a:xfrm>
            <a:off x="1016000" y="3709591"/>
            <a:ext cx="4911916"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DB6F2"/>
                </a:solidFill>
                <a:latin typeface="IBM Plex Sans" pitchFamily="34" charset="0"/>
                <a:ea typeface="IBM Plex Sans" pitchFamily="34" charset="-122"/>
                <a:cs typeface="IBM Plex Sans" pitchFamily="34" charset="-120"/>
              </a:rPr>
              <a:t>REPLY FORMAT</a:t>
            </a:r>
            <a:endParaRPr lang="en-US" sz="1300" dirty="0"/>
          </a:p>
        </p:txBody>
      </p:sp>
      <p:sp>
        <p:nvSpPr>
          <p:cNvPr id="24" name="Text 19"/>
          <p:cNvSpPr/>
          <p:nvPr/>
        </p:nvSpPr>
        <p:spPr>
          <a:xfrm>
            <a:off x="1006284" y="4124300"/>
            <a:ext cx="491191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AF8F3"/>
                </a:solidFill>
                <a:latin typeface="IBM Plex Mono" pitchFamily="49" charset="0"/>
                <a:ea typeface="IBM Plex Mono" pitchFamily="49" charset="-122"/>
                <a:cs typeface="IBM Plex Mono" pitchFamily="49" charset="-120"/>
              </a:rPr>
              <a:t>{"action": "zoom", "box": [x1, y1, x2, y2]}</a:t>
            </a:r>
            <a:endParaRPr lang="en-US" sz="1400" dirty="0"/>
          </a:p>
        </p:txBody>
      </p:sp>
      <p:sp>
        <p:nvSpPr>
          <p:cNvPr id="25" name="Text 20"/>
          <p:cNvSpPr/>
          <p:nvPr/>
        </p:nvSpPr>
        <p:spPr>
          <a:xfrm>
            <a:off x="1016000" y="4588421"/>
            <a:ext cx="491191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AF8F3"/>
                </a:solidFill>
                <a:latin typeface="IBM Plex Mono" pitchFamily="49" charset="0"/>
                <a:ea typeface="IBM Plex Mono" pitchFamily="49" charset="-122"/>
                <a:cs typeface="IBM Plex Mono" pitchFamily="49" charset="-120"/>
              </a:rPr>
              <a:t>{"action": "answer", "answer": "..."}</a:t>
            </a:r>
            <a:endParaRPr lang="en-US" sz="1400" dirty="0"/>
          </a:p>
        </p:txBody>
      </p:sp>
      <p:sp>
        <p:nvSpPr>
          <p:cNvPr id="27" name="Shape 22"/>
          <p:cNvSpPr/>
          <p:nvPr/>
        </p:nvSpPr>
        <p:spPr>
          <a:xfrm>
            <a:off x="6194425" y="3509566"/>
            <a:ext cx="5181600" cy="1824980"/>
          </a:xfrm>
          <a:prstGeom prst="roundRect">
            <a:avLst>
              <a:gd name="adj" fmla="val 5393"/>
            </a:avLst>
          </a:prstGeom>
          <a:solidFill>
            <a:srgbClr val="FFFFFF"/>
          </a:solidFill>
          <a:ln w="6350">
            <a:solidFill>
              <a:srgbClr val="DDD8CC"/>
            </a:solidFill>
            <a:prstDash val="solid"/>
          </a:ln>
        </p:spPr>
      </p:sp>
      <p:sp>
        <p:nvSpPr>
          <p:cNvPr id="28" name="Text 23"/>
          <p:cNvSpPr/>
          <p:nvPr/>
        </p:nvSpPr>
        <p:spPr>
          <a:xfrm>
            <a:off x="6400800" y="3715941"/>
            <a:ext cx="4911916"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1F5FBF"/>
                </a:solidFill>
                <a:latin typeface="IBM Plex Sans" pitchFamily="34" charset="0"/>
                <a:ea typeface="IBM Plex Sans" pitchFamily="34" charset="-122"/>
                <a:cs typeface="IBM Plex Sans" pitchFamily="34" charset="-120"/>
              </a:rPr>
              <a:t>LOOP GUARDS</a:t>
            </a:r>
            <a:endParaRPr lang="en-US" sz="1300" dirty="0"/>
          </a:p>
        </p:txBody>
      </p:sp>
      <p:sp>
        <p:nvSpPr>
          <p:cNvPr id="29" name="Text 24"/>
          <p:cNvSpPr/>
          <p:nvPr/>
        </p:nvSpPr>
        <p:spPr>
          <a:xfrm>
            <a:off x="6471920" y="4023271"/>
            <a:ext cx="4833176" cy="1130300"/>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sz="1500" dirty="0">
                <a:solidFill>
                  <a:srgbClr val="3C4656"/>
                </a:solidFill>
                <a:latin typeface="IBM Plex Sans" pitchFamily="34" charset="0"/>
                <a:ea typeface="IBM Plex Sans" pitchFamily="34" charset="-122"/>
                <a:cs typeface="IBM Plex Sans" pitchFamily="34" charset="-120"/>
              </a:rPr>
              <a:t>At most 3 zooms per question, then demands answer</a:t>
            </a:r>
            <a:endParaRPr lang="en-US" sz="1500" dirty="0"/>
          </a:p>
          <a:p>
            <a:pPr marL="182880" indent="-182880" algn="l">
              <a:lnSpc>
                <a:spcPts val="2175"/>
              </a:lnSpc>
              <a:buSzPct val="100000"/>
              <a:buChar char="•"/>
            </a:pPr>
            <a:r>
              <a:rPr lang="en-US" sz="1500" dirty="0">
                <a:solidFill>
                  <a:srgbClr val="3C4656"/>
                </a:solidFill>
                <a:latin typeface="IBM Plex Sans" pitchFamily="34" charset="0"/>
                <a:ea typeface="IBM Plex Sans" pitchFamily="34" charset="-122"/>
                <a:cs typeface="IBM Plex Sans" pitchFamily="34" charset="-120"/>
              </a:rPr>
              <a:t>Checking for JSON parsing error: one retry, then an empty answer</a:t>
            </a:r>
            <a:endParaRPr lang="en-US" sz="1500" dirty="0"/>
          </a:p>
        </p:txBody>
      </p:sp>
      <p:sp>
        <p:nvSpPr>
          <p:cNvPr id="30" name="Text 2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31" name="Text 26"/>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Viewing modes</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4183532132"/>
              </p:ext>
            </p:extLst>
          </p:nvPr>
        </p:nvGraphicFramePr>
        <p:xfrm>
          <a:off x="825500" y="1845442"/>
          <a:ext cx="10553700" cy="2950967"/>
        </p:xfrm>
        <a:graphic>
          <a:graphicData uri="http://schemas.openxmlformats.org/drawingml/2006/table">
            <a:tbl>
              <a:tblPr/>
              <a:tblGrid>
                <a:gridCol w="949833">
                  <a:extLst>
                    <a:ext uri="{9D8B030D-6E8A-4147-A177-3AD203B41FA5}">
                      <a16:colId xmlns:a16="http://schemas.microsoft.com/office/drawing/2014/main" val="20000"/>
                    </a:ext>
                  </a:extLst>
                </a:gridCol>
                <a:gridCol w="5804535">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7243B"/>
                          </a:solidFill>
                          <a:latin typeface="IBM Plex Sans" pitchFamily="34" charset="0"/>
                          <a:ea typeface="IBM Plex Sans" pitchFamily="34" charset="-122"/>
                          <a:cs typeface="IBM Plex Sans" pitchFamily="34" charset="-120"/>
                        </a:rPr>
                        <a:t>Mode</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B9B8B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B9B8B4"/>
                      </a:solidFill>
                      <a:prstDash val="solid"/>
                      <a:round/>
                      <a:headEnd type="none" w="med" len="med"/>
                      <a:tailEnd type="none" w="med" len="med"/>
                    </a:lnB>
                    <a:solidFill>
                      <a:srgbClr val="E8E6E1"/>
                    </a:solidFill>
                  </a:tcPr>
                </a:tc>
                <a:tc>
                  <a:txBody>
                    <a:bodyPr/>
                    <a:lstStyle/>
                    <a:p>
                      <a:pPr marL="0" indent="0">
                        <a:lnSpc>
                          <a:spcPts val="1960"/>
                        </a:lnSpc>
                        <a:buNone/>
                      </a:pPr>
                      <a:r>
                        <a:rPr lang="en-US" sz="1400" b="1" dirty="0">
                          <a:solidFill>
                            <a:srgbClr val="17243B"/>
                          </a:solidFill>
                          <a:latin typeface="IBM Plex Sans" pitchFamily="34" charset="0"/>
                          <a:ea typeface="IBM Plex Sans" pitchFamily="34" charset="-122"/>
                          <a:cs typeface="IBM Plex Sans" pitchFamily="34" charset="-120"/>
                        </a:rPr>
                        <a:t>What the model sees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9B8B4"/>
                      </a:solidFill>
                      <a:prstDash val="solid"/>
                      <a:round/>
                      <a:headEnd type="none" w="med" len="med"/>
                      <a:tailEnd type="none" w="med" len="med"/>
                    </a:lnL>
                    <a:lnR w="12700" cap="flat" cmpd="sng" algn="ctr">
                      <a:solidFill>
                        <a:srgbClr val="B9B8B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B9B8B4"/>
                      </a:solidFill>
                      <a:prstDash val="solid"/>
                      <a:round/>
                      <a:headEnd type="none" w="med" len="med"/>
                      <a:tailEnd type="none" w="med" len="med"/>
                    </a:lnB>
                    <a:solidFill>
                      <a:srgbClr val="E8E6E1"/>
                    </a:solidFill>
                  </a:tcPr>
                </a:tc>
                <a:tc>
                  <a:txBody>
                    <a:bodyPr/>
                    <a:lstStyle/>
                    <a:p>
                      <a:pPr marL="0" indent="0">
                        <a:lnSpc>
                          <a:spcPts val="1960"/>
                        </a:lnSpc>
                        <a:buNone/>
                      </a:pPr>
                      <a:r>
                        <a:rPr lang="en-US" sz="1400" b="1" dirty="0">
                          <a:solidFill>
                            <a:srgbClr val="17243B"/>
                          </a:solidFill>
                          <a:latin typeface="IBM Plex Sans" pitchFamily="34" charset="0"/>
                          <a:ea typeface="IBM Plex Sans" pitchFamily="34" charset="-122"/>
                          <a:cs typeface="IBM Plex Sans" pitchFamily="34" charset="-120"/>
                        </a:rPr>
                        <a:t>Role</a:t>
                      </a:r>
                      <a:endParaRPr lang="en-US" sz="1400" dirty="0">
                        <a:latin typeface="IBM Plex Sans" charset="0"/>
                        <a:ea typeface="IBM Plex Sans" charset="0"/>
                        <a:cs typeface="IBM Plex Sans" charset="0"/>
                      </a:endParaRPr>
                    </a:p>
                  </a:txBody>
                  <a:tcPr marL="62230" marR="62230" marT="62230" marB="62230">
                    <a:lnL w="12700" cap="flat" cmpd="sng" algn="ctr">
                      <a:solidFill>
                        <a:srgbClr val="B9B8B4"/>
                      </a:solidFill>
                      <a:prstDash val="solid"/>
                      <a:round/>
                      <a:headEnd type="none" w="med" len="med"/>
                      <a:tailEnd type="none" w="med" len="med"/>
                    </a:lnL>
                    <a:lnR w="12700" cap="flat" cmpd="sng" algn="ctr">
                      <a:solidFill>
                        <a:srgbClr val="B9B8B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B9B8B4"/>
                      </a:solidFill>
                      <a:prstDash val="solid"/>
                      <a:round/>
                      <a:headEnd type="none" w="med" len="med"/>
                      <a:tailEnd type="none" w="med" len="med"/>
                    </a:lnB>
                    <a:solidFill>
                      <a:srgbClr val="E8E6E1"/>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A</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B9B8B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Whole slide, 256 visual tokens, no zoom</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B9B8B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Baseline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B9B8B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B</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Whole slide, 1500 tokens, no zoom</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Is a bigger view enough?</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2"/>
                  </a:ext>
                </a:extLst>
              </a:tr>
              <a:tr h="634901">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C</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Overview plus 4 tiles (2×2, 10% overlap) from the original, in one query</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Fixed-crop baseline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D</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Overview, then up to 3 crops chosen by the model</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Zoom agent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E</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As D, but exactly one box is forced before the answer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Ablation of D</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F</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Same view as A, answer requested as JSON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marL="0" indent="0">
                        <a:lnSpc>
                          <a:spcPts val="1960"/>
                        </a:lnSpc>
                        <a:buNone/>
                      </a:pPr>
                      <a:r>
                        <a:rPr lang="en-US" sz="1400" dirty="0">
                          <a:solidFill>
                            <a:srgbClr val="17243B"/>
                          </a:solidFill>
                          <a:latin typeface="IBM Plex Sans" pitchFamily="34" charset="0"/>
                          <a:ea typeface="IBM Plex Sans" pitchFamily="34" charset="-122"/>
                          <a:cs typeface="IBM Plex Sans" pitchFamily="34" charset="-120"/>
                        </a:rPr>
                        <a:t>Control for answer format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5050406"/>
            <a:ext cx="10464800" cy="27429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6B7380"/>
                </a:solidFill>
                <a:latin typeface="IBM Plex Sans" pitchFamily="34" charset="0"/>
                <a:ea typeface="IBM Plex Sans" pitchFamily="34" charset="-122"/>
                <a:cs typeface="IBM Plex Sans" pitchFamily="34" charset="-120"/>
              </a:rPr>
              <a:t>Two extra runs use a 768-token overview: A at 768 tokens and D at 768 tokens. </a:t>
            </a:r>
            <a:endParaRPr lang="en-US" sz="1400" dirty="0"/>
          </a:p>
        </p:txBody>
      </p:sp>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6" name="Text 3"/>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Data</a:t>
            </a:r>
            <a:endParaRPr lang="en-US" sz="3000" dirty="0"/>
          </a:p>
        </p:txBody>
      </p:sp>
      <p:sp>
        <p:nvSpPr>
          <p:cNvPr id="3" name="Text 1"/>
          <p:cNvSpPr/>
          <p:nvPr/>
        </p:nvSpPr>
        <p:spPr>
          <a:xfrm>
            <a:off x="833821" y="2063238"/>
            <a:ext cx="222377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F5FBF"/>
                </a:solidFill>
                <a:latin typeface="Source Serif 4" pitchFamily="18" charset="0"/>
                <a:ea typeface="Source Serif 4" pitchFamily="18" charset="-122"/>
                <a:cs typeface="Source Serif 4" pitchFamily="18" charset="-120"/>
              </a:rPr>
              <a:t>400</a:t>
            </a:r>
            <a:endParaRPr lang="en-US" sz="3600" dirty="0"/>
          </a:p>
        </p:txBody>
      </p:sp>
      <p:sp>
        <p:nvSpPr>
          <p:cNvPr id="4" name="Text 2"/>
          <p:cNvSpPr/>
          <p:nvPr/>
        </p:nvSpPr>
        <p:spPr>
          <a:xfrm>
            <a:off x="3196021" y="2042948"/>
            <a:ext cx="389813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6"/>
                </a:solidFill>
                <a:latin typeface="IBM Plex Sans" pitchFamily="34" charset="0"/>
                <a:ea typeface="IBM Plex Sans" pitchFamily="34" charset="-122"/>
                <a:cs typeface="IBM Plex Sans" pitchFamily="34" charset="-120"/>
              </a:rPr>
              <a:t>SlideVQA test questions, one evidence slide each: 284 text and 116 numeric answers</a:t>
            </a:r>
            <a:endParaRPr lang="en-US" sz="1400" dirty="0"/>
          </a:p>
        </p:txBody>
      </p:sp>
      <p:sp>
        <p:nvSpPr>
          <p:cNvPr id="5" name="Text 3"/>
          <p:cNvSpPr/>
          <p:nvPr/>
        </p:nvSpPr>
        <p:spPr>
          <a:xfrm>
            <a:off x="833821" y="3276039"/>
            <a:ext cx="222377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F5FBF"/>
                </a:solidFill>
                <a:latin typeface="Source Serif 4" pitchFamily="18" charset="0"/>
                <a:ea typeface="Source Serif 4" pitchFamily="18" charset="-122"/>
                <a:cs typeface="Source Serif 4" pitchFamily="18" charset="-120"/>
              </a:rPr>
              <a:t>30 + 120</a:t>
            </a:r>
            <a:endParaRPr lang="en-US" sz="3600" dirty="0"/>
          </a:p>
        </p:txBody>
      </p:sp>
      <p:sp>
        <p:nvSpPr>
          <p:cNvPr id="6" name="Text 4"/>
          <p:cNvSpPr/>
          <p:nvPr/>
        </p:nvSpPr>
        <p:spPr>
          <a:xfrm>
            <a:off x="3196021" y="3255748"/>
            <a:ext cx="389813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6"/>
                </a:solidFill>
                <a:latin typeface="IBM Plex Sans" pitchFamily="34" charset="0"/>
                <a:ea typeface="IBM Plex Sans" pitchFamily="34" charset="-122"/>
                <a:cs typeface="IBM Plex Sans" pitchFamily="34" charset="-120"/>
              </a:rPr>
              <a:t>dev and test split, ids fixed once, balanced between text and numeric answers</a:t>
            </a:r>
            <a:endParaRPr lang="en-US" sz="1400" dirty="0"/>
          </a:p>
        </p:txBody>
      </p:sp>
      <p:sp>
        <p:nvSpPr>
          <p:cNvPr id="7" name="Text 5"/>
          <p:cNvSpPr/>
          <p:nvPr/>
        </p:nvSpPr>
        <p:spPr>
          <a:xfrm>
            <a:off x="833821" y="4488839"/>
            <a:ext cx="222377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F5FBF"/>
                </a:solidFill>
                <a:latin typeface="Source Serif 4" pitchFamily="18" charset="0"/>
                <a:ea typeface="Source Serif 4" pitchFamily="18" charset="-122"/>
                <a:cs typeface="Source Serif 4" pitchFamily="18" charset="-120"/>
              </a:rPr>
              <a:t>40</a:t>
            </a:r>
            <a:endParaRPr lang="en-US" sz="3600" dirty="0"/>
          </a:p>
        </p:txBody>
      </p:sp>
      <p:sp>
        <p:nvSpPr>
          <p:cNvPr id="8" name="Text 6"/>
          <p:cNvSpPr/>
          <p:nvPr/>
        </p:nvSpPr>
        <p:spPr>
          <a:xfrm>
            <a:off x="3196021" y="4468549"/>
            <a:ext cx="389813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6"/>
                </a:solidFill>
                <a:latin typeface="IBM Plex Sans" pitchFamily="34" charset="0"/>
                <a:ea typeface="IBM Plex Sans" pitchFamily="34" charset="-122"/>
                <a:cs typeface="IBM Plex Sans" pitchFamily="34" charset="-120"/>
              </a:rPr>
              <a:t>own questions on 2560 px slides: 20 on course slides, 20 on dense slides with small print</a:t>
            </a:r>
            <a:endParaRPr lang="en-US" sz="1400" dirty="0"/>
          </a:p>
        </p:txBody>
      </p:sp>
      <p:sp>
        <p:nvSpPr>
          <p:cNvPr id="9" name="Shape 7"/>
          <p:cNvSpPr/>
          <p:nvPr/>
        </p:nvSpPr>
        <p:spPr>
          <a:xfrm>
            <a:off x="7336221" y="2042948"/>
            <a:ext cx="4064000" cy="2923381"/>
          </a:xfrm>
          <a:prstGeom prst="roundRect">
            <a:avLst>
              <a:gd name="adj" fmla="val 3475"/>
            </a:avLst>
          </a:prstGeom>
          <a:solidFill>
            <a:srgbClr val="17243B"/>
          </a:solidFill>
          <a:ln/>
        </p:spPr>
      </p:sp>
      <p:sp>
        <p:nvSpPr>
          <p:cNvPr id="10" name="Text 8"/>
          <p:cNvSpPr/>
          <p:nvPr/>
        </p:nvSpPr>
        <p:spPr>
          <a:xfrm>
            <a:off x="7590221" y="2296948"/>
            <a:ext cx="3662680"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DB6F2"/>
                </a:solidFill>
                <a:latin typeface="IBM Plex Sans" pitchFamily="34" charset="0"/>
                <a:ea typeface="IBM Plex Sans" pitchFamily="34" charset="-122"/>
                <a:cs typeface="IBM Plex Sans" pitchFamily="34" charset="-120"/>
              </a:rPr>
              <a:t>SIZE CHECK</a:t>
            </a:r>
            <a:endParaRPr lang="en-US" sz="1300" dirty="0"/>
          </a:p>
        </p:txBody>
      </p:sp>
      <p:sp>
        <p:nvSpPr>
          <p:cNvPr id="11" name="Text 9"/>
          <p:cNvSpPr/>
          <p:nvPr/>
        </p:nvSpPr>
        <p:spPr>
          <a:xfrm>
            <a:off x="7590221" y="2655078"/>
            <a:ext cx="3662680"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AF8F3"/>
                </a:solidFill>
                <a:latin typeface="Source Serif 4" pitchFamily="18" charset="0"/>
                <a:ea typeface="Source Serif 4" pitchFamily="18" charset="-122"/>
                <a:cs typeface="Source Serif 4" pitchFamily="18" charset="-120"/>
              </a:rPr>
              <a:t>1024 px</a:t>
            </a:r>
            <a:endParaRPr lang="en-US" sz="4400" dirty="0"/>
          </a:p>
        </p:txBody>
      </p:sp>
      <p:sp>
        <p:nvSpPr>
          <p:cNvPr id="12" name="Text 10"/>
          <p:cNvSpPr/>
          <p:nvPr/>
        </p:nvSpPr>
        <p:spPr>
          <a:xfrm>
            <a:off x="7590221" y="3340878"/>
            <a:ext cx="366268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Median longest side of SlideVQA slides. The 10th and 90th percentiles are also 1024 px.</a:t>
            </a:r>
            <a:endParaRPr lang="en-US" sz="1400" dirty="0"/>
          </a:p>
        </p:txBody>
      </p:sp>
      <p:sp>
        <p:nvSpPr>
          <p:cNvPr id="13" name="Text 11"/>
          <p:cNvSpPr/>
          <p:nvPr/>
        </p:nvSpPr>
        <p:spPr>
          <a:xfrm>
            <a:off x="7590221" y="3965659"/>
            <a:ext cx="3662680"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AF8F3"/>
                </a:solidFill>
                <a:latin typeface="IBM Plex Sans" pitchFamily="34" charset="0"/>
                <a:ea typeface="IBM Plex Sans" pitchFamily="34" charset="-122"/>
                <a:cs typeface="IBM Plex Sans" pitchFamily="34" charset="-120"/>
              </a:rPr>
              <a:t>The original has no more pixels than a 768-token view, so zoom can add little on this dataset.</a:t>
            </a:r>
            <a:endParaRPr lang="en-US" sz="14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6" name="Text 14"/>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Metrics and statistics</a:t>
            </a:r>
            <a:endParaRPr lang="en-US" sz="3000" dirty="0"/>
          </a:p>
        </p:txBody>
      </p:sp>
      <p:sp>
        <p:nvSpPr>
          <p:cNvPr id="3" name="Shape 1"/>
          <p:cNvSpPr/>
          <p:nvPr/>
        </p:nvSpPr>
        <p:spPr>
          <a:xfrm>
            <a:off x="812800" y="1969244"/>
            <a:ext cx="5175250" cy="2919512"/>
          </a:xfrm>
          <a:prstGeom prst="roundRect">
            <a:avLst>
              <a:gd name="adj" fmla="val 3371"/>
            </a:avLst>
          </a:prstGeom>
          <a:solidFill>
            <a:srgbClr val="FFFFFF"/>
          </a:solidFill>
          <a:ln w="6350">
            <a:solidFill>
              <a:srgbClr val="DDD8CC"/>
            </a:solidFill>
            <a:prstDash val="solid"/>
          </a:ln>
        </p:spPr>
      </p:sp>
      <p:sp>
        <p:nvSpPr>
          <p:cNvPr id="4" name="Text 2"/>
          <p:cNvSpPr/>
          <p:nvPr/>
        </p:nvSpPr>
        <p:spPr>
          <a:xfrm>
            <a:off x="1044575" y="2201019"/>
            <a:ext cx="4853051"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1F5FBF"/>
                </a:solidFill>
                <a:latin typeface="IBM Plex Sans" pitchFamily="34" charset="0"/>
                <a:ea typeface="IBM Plex Sans" pitchFamily="34" charset="-122"/>
                <a:cs typeface="IBM Plex Sans" pitchFamily="34" charset="-120"/>
              </a:rPr>
              <a:t>SCORING</a:t>
            </a:r>
            <a:endParaRPr lang="en-US" sz="1300" dirty="0"/>
          </a:p>
        </p:txBody>
      </p:sp>
      <p:sp>
        <p:nvSpPr>
          <p:cNvPr id="5" name="Text 3"/>
          <p:cNvSpPr/>
          <p:nvPr/>
        </p:nvSpPr>
        <p:spPr>
          <a:xfrm>
            <a:off x="1044575" y="2559149"/>
            <a:ext cx="4853051" cy="573980"/>
          </a:xfrm>
          <a:prstGeom prst="rect">
            <a:avLst/>
          </a:prstGeom>
          <a:noFill/>
          <a:ln/>
        </p:spPr>
        <p:txBody>
          <a:bodyPr wrap="square" lIns="0" tIns="0" rIns="0" bIns="0" rtlCol="0" anchor="t">
            <a:normAutofit/>
          </a:bodyPr>
          <a:lstStyle/>
          <a:p>
            <a:pPr marL="0" indent="0" algn="l">
              <a:lnSpc>
                <a:spcPts val="2160"/>
              </a:lnSpc>
              <a:buNone/>
            </a:pPr>
            <a:r>
              <a:rPr lang="en-US" sz="1600" i="1" dirty="0">
                <a:solidFill>
                  <a:srgbClr val="17243B"/>
                </a:solidFill>
                <a:latin typeface="Source Serif 4" pitchFamily="18" charset="0"/>
                <a:ea typeface="Source Serif 4" pitchFamily="18" charset="-122"/>
                <a:cs typeface="Source Serif 4" pitchFamily="18" charset="-120"/>
              </a:rPr>
              <a:t>EM</a:t>
            </a:r>
            <a:r>
              <a:rPr lang="en-US" sz="1600" dirty="0">
                <a:solidFill>
                  <a:srgbClr val="17243B"/>
                </a:solidFill>
                <a:latin typeface="Source Serif 4" pitchFamily="18" charset="0"/>
                <a:ea typeface="Source Serif 4" pitchFamily="18" charset="-122"/>
                <a:cs typeface="Source Serif 4" pitchFamily="18" charset="-120"/>
              </a:rPr>
              <a:t> = 1 if norm(pred) = norm(gold) for any accepted gold answer</a:t>
            </a:r>
            <a:endParaRPr lang="en-US" sz="1600" dirty="0"/>
          </a:p>
        </p:txBody>
      </p:sp>
      <p:sp>
        <p:nvSpPr>
          <p:cNvPr id="6" name="Text 4"/>
          <p:cNvSpPr/>
          <p:nvPr/>
        </p:nvSpPr>
        <p:spPr>
          <a:xfrm>
            <a:off x="1044575" y="3234730"/>
            <a:ext cx="4853051" cy="573980"/>
          </a:xfrm>
          <a:prstGeom prst="rect">
            <a:avLst/>
          </a:prstGeom>
          <a:noFill/>
          <a:ln/>
        </p:spPr>
        <p:txBody>
          <a:bodyPr wrap="square" lIns="0" tIns="0" rIns="0" bIns="0" rtlCol="0" anchor="t">
            <a:normAutofit/>
          </a:bodyPr>
          <a:lstStyle/>
          <a:p>
            <a:pPr marL="0" indent="0" algn="l">
              <a:lnSpc>
                <a:spcPts val="2160"/>
              </a:lnSpc>
              <a:buNone/>
            </a:pPr>
            <a:r>
              <a:rPr lang="en-US" sz="1600" i="1" dirty="0">
                <a:solidFill>
                  <a:srgbClr val="17243B"/>
                </a:solidFill>
                <a:latin typeface="Source Serif 4" pitchFamily="18" charset="0"/>
                <a:ea typeface="Source Serif 4" pitchFamily="18" charset="-122"/>
                <a:cs typeface="Source Serif 4" pitchFamily="18" charset="-120"/>
              </a:rPr>
              <a:t>F1</a:t>
            </a:r>
            <a:r>
              <a:rPr lang="en-US" sz="1600" dirty="0">
                <a:solidFill>
                  <a:srgbClr val="17243B"/>
                </a:solidFill>
                <a:latin typeface="Source Serif 4" pitchFamily="18" charset="0"/>
                <a:ea typeface="Source Serif 4" pitchFamily="18" charset="-122"/>
                <a:cs typeface="Source Serif 4" pitchFamily="18" charset="-120"/>
              </a:rPr>
              <a:t> = max over gold of 2</a:t>
            </a:r>
            <a:r>
              <a:rPr lang="en-US" sz="1600" i="1" dirty="0">
                <a:solidFill>
                  <a:srgbClr val="17243B"/>
                </a:solidFill>
                <a:latin typeface="Source Serif 4" pitchFamily="18" charset="0"/>
                <a:ea typeface="Source Serif 4" pitchFamily="18" charset="-122"/>
                <a:cs typeface="Source Serif 4" pitchFamily="18" charset="-120"/>
              </a:rPr>
              <a:t>PR</a:t>
            </a:r>
            <a:r>
              <a:rPr lang="en-US" sz="1600" dirty="0">
                <a:solidFill>
                  <a:srgbClr val="17243B"/>
                </a:solidFill>
                <a:latin typeface="Source Serif 4" pitchFamily="18" charset="0"/>
                <a:ea typeface="Source Serif 4" pitchFamily="18" charset="-122"/>
                <a:cs typeface="Source Serif 4" pitchFamily="18" charset="-120"/>
              </a:rPr>
              <a:t> / (</a:t>
            </a:r>
            <a:r>
              <a:rPr lang="en-US" sz="1600" i="1" dirty="0">
                <a:solidFill>
                  <a:srgbClr val="17243B"/>
                </a:solidFill>
                <a:latin typeface="Source Serif 4" pitchFamily="18" charset="0"/>
                <a:ea typeface="Source Serif 4" pitchFamily="18" charset="-122"/>
                <a:cs typeface="Source Serif 4" pitchFamily="18" charset="-120"/>
              </a:rPr>
              <a:t>P</a:t>
            </a:r>
            <a:r>
              <a:rPr lang="en-US" sz="1600" dirty="0">
                <a:solidFill>
                  <a:srgbClr val="17243B"/>
                </a:solidFill>
                <a:latin typeface="Source Serif 4" pitchFamily="18" charset="0"/>
                <a:ea typeface="Source Serif 4" pitchFamily="18" charset="-122"/>
                <a:cs typeface="Source Serif 4" pitchFamily="18" charset="-120"/>
              </a:rPr>
              <a:t> + </a:t>
            </a:r>
            <a:r>
              <a:rPr lang="en-US" sz="1600" i="1" dirty="0">
                <a:solidFill>
                  <a:srgbClr val="17243B"/>
                </a:solidFill>
                <a:latin typeface="Source Serif 4" pitchFamily="18" charset="0"/>
                <a:ea typeface="Source Serif 4" pitchFamily="18" charset="-122"/>
                <a:cs typeface="Source Serif 4" pitchFamily="18" charset="-120"/>
              </a:rPr>
              <a:t>R</a:t>
            </a:r>
            <a:r>
              <a:rPr lang="en-US" sz="1600" dirty="0">
                <a:solidFill>
                  <a:srgbClr val="17243B"/>
                </a:solidFill>
                <a:latin typeface="Source Serif 4" pitchFamily="18" charset="0"/>
                <a:ea typeface="Source Serif 4" pitchFamily="18" charset="-122"/>
                <a:cs typeface="Source Serif 4" pitchFamily="18" charset="-120"/>
              </a:rPr>
              <a:t>), with </a:t>
            </a:r>
            <a:r>
              <a:rPr lang="en-US" sz="1600" i="1" dirty="0">
                <a:solidFill>
                  <a:srgbClr val="17243B"/>
                </a:solidFill>
                <a:latin typeface="Source Serif 4" pitchFamily="18" charset="0"/>
                <a:ea typeface="Source Serif 4" pitchFamily="18" charset="-122"/>
                <a:cs typeface="Source Serif 4" pitchFamily="18" charset="-120"/>
              </a:rPr>
              <a:t>P</a:t>
            </a:r>
            <a:r>
              <a:rPr lang="en-US" sz="1600" dirty="0">
                <a:solidFill>
                  <a:srgbClr val="17243B"/>
                </a:solidFill>
                <a:latin typeface="Source Serif 4" pitchFamily="18" charset="0"/>
                <a:ea typeface="Source Serif 4" pitchFamily="18" charset="-122"/>
                <a:cs typeface="Source Serif 4" pitchFamily="18" charset="-120"/>
              </a:rPr>
              <a:t> and </a:t>
            </a:r>
            <a:r>
              <a:rPr lang="en-US" sz="1600" i="1" dirty="0">
                <a:solidFill>
                  <a:srgbClr val="17243B"/>
                </a:solidFill>
                <a:latin typeface="Source Serif 4" pitchFamily="18" charset="0"/>
                <a:ea typeface="Source Serif 4" pitchFamily="18" charset="-122"/>
                <a:cs typeface="Source Serif 4" pitchFamily="18" charset="-120"/>
              </a:rPr>
              <a:t>R</a:t>
            </a:r>
            <a:r>
              <a:rPr lang="en-US" sz="1600" dirty="0">
                <a:solidFill>
                  <a:srgbClr val="17243B"/>
                </a:solidFill>
                <a:latin typeface="Source Serif 4" pitchFamily="18" charset="0"/>
                <a:ea typeface="Source Serif 4" pitchFamily="18" charset="-122"/>
                <a:cs typeface="Source Serif 4" pitchFamily="18" charset="-120"/>
              </a:rPr>
              <a:t> from shared words</a:t>
            </a:r>
            <a:endParaRPr lang="en-US" sz="1600" dirty="0"/>
          </a:p>
        </p:txBody>
      </p:sp>
      <p:sp>
        <p:nvSpPr>
          <p:cNvPr id="7" name="Text 5"/>
          <p:cNvSpPr/>
          <p:nvPr/>
        </p:nvSpPr>
        <p:spPr>
          <a:xfrm>
            <a:off x="1044575" y="3910310"/>
            <a:ext cx="4853051"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6"/>
                </a:solidFill>
                <a:latin typeface="IBM Plex Sans" pitchFamily="34" charset="0"/>
                <a:ea typeface="IBM Plex Sans" pitchFamily="34" charset="-122"/>
                <a:cs typeface="IBM Plex Sans" pitchFamily="34" charset="-120"/>
              </a:rPr>
              <a:t>norm: lowercase, no thousands commas, punctuation to spaces, articles dropped. An empty or invalid answer scores 0 and stays in the denominator.</a:t>
            </a:r>
            <a:endParaRPr lang="en-US" sz="1400" dirty="0"/>
          </a:p>
        </p:txBody>
      </p:sp>
      <p:sp>
        <p:nvSpPr>
          <p:cNvPr id="8" name="Shape 6"/>
          <p:cNvSpPr/>
          <p:nvPr/>
        </p:nvSpPr>
        <p:spPr>
          <a:xfrm>
            <a:off x="6197600" y="1969244"/>
            <a:ext cx="5175250" cy="2919512"/>
          </a:xfrm>
          <a:prstGeom prst="roundRect">
            <a:avLst>
              <a:gd name="adj" fmla="val 3371"/>
            </a:avLst>
          </a:prstGeom>
          <a:solidFill>
            <a:srgbClr val="FFFFFF"/>
          </a:solidFill>
          <a:ln w="6350">
            <a:solidFill>
              <a:srgbClr val="DDD8CC"/>
            </a:solidFill>
            <a:prstDash val="solid"/>
          </a:ln>
        </p:spPr>
      </p:sp>
      <p:sp>
        <p:nvSpPr>
          <p:cNvPr id="9" name="Text 7"/>
          <p:cNvSpPr/>
          <p:nvPr/>
        </p:nvSpPr>
        <p:spPr>
          <a:xfrm>
            <a:off x="6429375" y="2201019"/>
            <a:ext cx="4853051"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1F5FBF"/>
                </a:solidFill>
                <a:latin typeface="IBM Plex Sans" pitchFamily="34" charset="0"/>
                <a:ea typeface="IBM Plex Sans" pitchFamily="34" charset="-122"/>
                <a:cs typeface="IBM Plex Sans" pitchFamily="34" charset="-120"/>
              </a:rPr>
              <a:t>STATISTICS</a:t>
            </a:r>
            <a:endParaRPr lang="en-US" sz="1300" dirty="0"/>
          </a:p>
        </p:txBody>
      </p:sp>
      <p:sp>
        <p:nvSpPr>
          <p:cNvPr id="10" name="Text 8"/>
          <p:cNvSpPr/>
          <p:nvPr/>
        </p:nvSpPr>
        <p:spPr>
          <a:xfrm>
            <a:off x="6500495" y="2559149"/>
            <a:ext cx="4774311" cy="18923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3C4656"/>
                </a:solidFill>
                <a:latin typeface="IBM Plex Sans" pitchFamily="34" charset="0"/>
                <a:ea typeface="IBM Plex Sans" pitchFamily="34" charset="-122"/>
                <a:cs typeface="IBM Plex Sans" pitchFamily="34" charset="-120"/>
              </a:rPr>
              <a:t>95% intervals: bootstrap over questions, 2000 resamples</a:t>
            </a:r>
            <a:endParaRPr lang="en-US" sz="1500" dirty="0"/>
          </a:p>
          <a:p>
            <a:pPr marL="182880" indent="-182880" algn="l">
              <a:lnSpc>
                <a:spcPts val="2100"/>
              </a:lnSpc>
              <a:buSzPct val="100000"/>
              <a:buChar char="•"/>
            </a:pPr>
            <a:r>
              <a:rPr lang="en-US" sz="1500" dirty="0">
                <a:solidFill>
                  <a:srgbClr val="3C4656"/>
                </a:solidFill>
                <a:latin typeface="IBM Plex Sans" pitchFamily="34" charset="0"/>
                <a:ea typeface="IBM Plex Sans" pitchFamily="34" charset="-122"/>
                <a:cs typeface="IBM Plex Sans" pitchFamily="34" charset="-120"/>
              </a:rPr>
              <a:t>Paired difference: bootstrap on per-question score differences</a:t>
            </a:r>
            <a:endParaRPr lang="en-US" sz="1500" dirty="0"/>
          </a:p>
          <a:p>
            <a:pPr marL="182880" indent="-182880" algn="l">
              <a:lnSpc>
                <a:spcPts val="2100"/>
              </a:lnSpc>
              <a:buSzPct val="100000"/>
              <a:buChar char="•"/>
            </a:pPr>
            <a:r>
              <a:rPr lang="en-US" sz="1500" dirty="0">
                <a:solidFill>
                  <a:srgbClr val="3C4656"/>
                </a:solidFill>
                <a:latin typeface="IBM Plex Sans" pitchFamily="34" charset="0"/>
                <a:ea typeface="IBM Plex Sans" pitchFamily="34" charset="-122"/>
                <a:cs typeface="IBM Plex Sans" pitchFamily="34" charset="-120"/>
              </a:rPr>
              <a:t>Exact McNemar test on EM, using only questions where two modes disagree</a:t>
            </a:r>
            <a:endParaRPr lang="en-US" sz="1500" dirty="0"/>
          </a:p>
          <a:p>
            <a:pPr marL="182880" indent="-182880" algn="l">
              <a:lnSpc>
                <a:spcPts val="2100"/>
              </a:lnSpc>
              <a:buSzPct val="100000"/>
              <a:buChar char="•"/>
            </a:pPr>
            <a:r>
              <a:rPr lang="en-US" sz="1500" dirty="0">
                <a:solidFill>
                  <a:srgbClr val="3C4656"/>
                </a:solidFill>
                <a:latin typeface="IBM Plex Sans" pitchFamily="34" charset="0"/>
                <a:ea typeface="IBM Plex Sans" pitchFamily="34" charset="-122"/>
                <a:cs typeface="IBM Plex Sans" pitchFamily="34" charset="-120"/>
              </a:rPr>
              <a:t>Threshold p &lt; 0.006 for 8 comparisons</a:t>
            </a:r>
            <a:endParaRPr lang="en-US" sz="15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3" name="Text 11"/>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Accuracy by mode on SlideVQA</a:t>
            </a:r>
            <a:endParaRPr lang="en-US" sz="3000" dirty="0"/>
          </a:p>
        </p:txBody>
      </p:sp>
      <p:sp>
        <p:nvSpPr>
          <p:cNvPr id="3" name="Shape 1"/>
          <p:cNvSpPr/>
          <p:nvPr/>
        </p:nvSpPr>
        <p:spPr>
          <a:xfrm>
            <a:off x="809625" y="1738148"/>
            <a:ext cx="6350000" cy="3587750"/>
          </a:xfrm>
          <a:prstGeom prst="roundRect">
            <a:avLst>
              <a:gd name="adj" fmla="val 1416"/>
            </a:avLst>
          </a:prstGeom>
          <a:solidFill>
            <a:srgbClr val="FFFFFF"/>
          </a:solidFill>
          <a:ln/>
        </p:spPr>
      </p:sp>
      <p:pic>
        <p:nvPicPr>
          <p:cNvPr id="4" name="Image 0" descr="Bar chart of exact match by mode on the 120 test questions with 95% bootstrap intervals: A 0.66, B 0.82, C 0.75, D 0.66, E 0.63, F 0.66, with tokens per question under each bar"/>
          <p:cNvPicPr>
            <a:picLocks noChangeAspect="1"/>
          </p:cNvPicPr>
          <p:nvPr/>
        </p:nvPicPr>
        <p:blipFill>
          <a:blip r:embed="rId3"/>
          <a:srcRect l="-97" r="-97"/>
          <a:stretch/>
        </p:blipFill>
        <p:spPr>
          <a:xfrm>
            <a:off x="815975" y="1744498"/>
            <a:ext cx="6337300" cy="3575050"/>
          </a:xfrm>
          <a:prstGeom prst="roundRect">
            <a:avLst>
              <a:gd name="adj" fmla="val 1243"/>
            </a:avLst>
          </a:prstGeom>
        </p:spPr>
      </p:pic>
      <p:sp>
        <p:nvSpPr>
          <p:cNvPr id="5" name="Shape 2"/>
          <p:cNvSpPr/>
          <p:nvPr/>
        </p:nvSpPr>
        <p:spPr>
          <a:xfrm>
            <a:off x="812800" y="1741323"/>
            <a:ext cx="6343650" cy="3581400"/>
          </a:xfrm>
          <a:prstGeom prst="roundRect">
            <a:avLst>
              <a:gd name="adj" fmla="val 1330"/>
            </a:avLst>
          </a:prstGeom>
          <a:noFill/>
          <a:ln w="6350">
            <a:solidFill>
              <a:srgbClr val="DDD8CC"/>
            </a:solidFill>
            <a:prstDash val="solid"/>
          </a:ln>
        </p:spPr>
      </p:sp>
      <p:sp>
        <p:nvSpPr>
          <p:cNvPr id="6" name="Text 3"/>
          <p:cNvSpPr/>
          <p:nvPr/>
        </p:nvSpPr>
        <p:spPr>
          <a:xfrm>
            <a:off x="7515225" y="2131253"/>
            <a:ext cx="397662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F5FBF"/>
                </a:solidFill>
                <a:latin typeface="Source Serif 4" pitchFamily="18" charset="0"/>
                <a:ea typeface="Source Serif 4" pitchFamily="18" charset="-122"/>
                <a:cs typeface="Source Serif 4" pitchFamily="18" charset="-120"/>
              </a:rPr>
              <a:t>0.82</a:t>
            </a:r>
            <a:endParaRPr lang="en-US" sz="3600" dirty="0"/>
          </a:p>
        </p:txBody>
      </p:sp>
      <p:sp>
        <p:nvSpPr>
          <p:cNvPr id="7" name="Text 4"/>
          <p:cNvSpPr/>
          <p:nvPr/>
        </p:nvSpPr>
        <p:spPr>
          <a:xfrm>
            <a:off x="7515225" y="2563698"/>
            <a:ext cx="463296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B, whole slide at 1500 tokens, against 0.66 for A</a:t>
            </a:r>
            <a:endParaRPr lang="en-US" sz="1400" dirty="0"/>
          </a:p>
        </p:txBody>
      </p:sp>
      <p:sp>
        <p:nvSpPr>
          <p:cNvPr id="8" name="Text 5"/>
          <p:cNvSpPr/>
          <p:nvPr/>
        </p:nvSpPr>
        <p:spPr>
          <a:xfrm>
            <a:off x="7515225" y="3044363"/>
            <a:ext cx="397662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2805C"/>
                </a:solidFill>
                <a:latin typeface="Source Serif 4" pitchFamily="18" charset="0"/>
                <a:ea typeface="Source Serif 4" pitchFamily="18" charset="-122"/>
                <a:cs typeface="Source Serif 4" pitchFamily="18" charset="-120"/>
              </a:rPr>
              <a:t>0.66</a:t>
            </a:r>
            <a:endParaRPr lang="en-US" sz="3600" dirty="0"/>
          </a:p>
        </p:txBody>
      </p:sp>
      <p:sp>
        <p:nvSpPr>
          <p:cNvPr id="9" name="Text 6"/>
          <p:cNvSpPr/>
          <p:nvPr/>
        </p:nvSpPr>
        <p:spPr>
          <a:xfrm>
            <a:off x="7515225" y="3539663"/>
            <a:ext cx="397662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D, zoom agent: 1770 tokens and 12.8 s per question, A takes 309 and 1.6 s</a:t>
            </a:r>
            <a:endParaRPr lang="en-US" sz="1400" dirty="0"/>
          </a:p>
        </p:txBody>
      </p:sp>
      <p:sp>
        <p:nvSpPr>
          <p:cNvPr id="10" name="Text 7"/>
          <p:cNvSpPr/>
          <p:nvPr/>
        </p:nvSpPr>
        <p:spPr>
          <a:xfrm>
            <a:off x="7515225" y="4197483"/>
            <a:ext cx="397662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B4451A"/>
                </a:solidFill>
                <a:latin typeface="Source Serif 4" pitchFamily="18" charset="0"/>
                <a:ea typeface="Source Serif 4" pitchFamily="18" charset="-122"/>
                <a:cs typeface="Source Serif 4" pitchFamily="18" charset="-120"/>
              </a:rPr>
              <a:t>0.75</a:t>
            </a:r>
            <a:endParaRPr lang="en-US" sz="3600" dirty="0"/>
          </a:p>
        </p:txBody>
      </p:sp>
      <p:sp>
        <p:nvSpPr>
          <p:cNvPr id="11" name="Text 8"/>
          <p:cNvSpPr/>
          <p:nvPr/>
        </p:nvSpPr>
        <p:spPr>
          <a:xfrm>
            <a:off x="7515225" y="4692783"/>
            <a:ext cx="397662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C, overview plus 4 tiles, at 5003 tokens</a:t>
            </a:r>
            <a:endParaRPr lang="en-US" sz="140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3" name="Text 10"/>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Paired comparisons</a:t>
            </a:r>
            <a:endParaRPr lang="en-US" sz="3000" dirty="0"/>
          </a:p>
        </p:txBody>
      </p:sp>
      <p:sp>
        <p:nvSpPr>
          <p:cNvPr id="3" name="Shape 1"/>
          <p:cNvSpPr/>
          <p:nvPr/>
        </p:nvSpPr>
        <p:spPr>
          <a:xfrm>
            <a:off x="812800" y="1654066"/>
            <a:ext cx="6350000" cy="3714750"/>
          </a:xfrm>
          <a:prstGeom prst="roundRect">
            <a:avLst>
              <a:gd name="adj" fmla="val 1368"/>
            </a:avLst>
          </a:prstGeom>
          <a:solidFill>
            <a:srgbClr val="FFFFFF"/>
          </a:solidFill>
          <a:ln/>
        </p:spPr>
      </p:sp>
      <p:pic>
        <p:nvPicPr>
          <p:cNvPr id="4" name="Image 0" descr="Forest plot of the paired difference in exact match for eight mode pairs with 95% bootstrap intervals, the number of questions only the second or only the first mode gets right, and the McNemar p value; only A to B and B to D are below 0.006"/>
          <p:cNvPicPr>
            <a:picLocks noChangeAspect="1"/>
          </p:cNvPicPr>
          <p:nvPr/>
        </p:nvPicPr>
        <p:blipFill>
          <a:blip r:embed="rId3"/>
          <a:srcRect l="-91" r="-91"/>
          <a:stretch/>
        </p:blipFill>
        <p:spPr>
          <a:xfrm>
            <a:off x="819150" y="1660416"/>
            <a:ext cx="6337300" cy="3702050"/>
          </a:xfrm>
          <a:prstGeom prst="roundRect">
            <a:avLst>
              <a:gd name="adj" fmla="val 1201"/>
            </a:avLst>
          </a:prstGeom>
        </p:spPr>
      </p:pic>
      <p:sp>
        <p:nvSpPr>
          <p:cNvPr id="5" name="Shape 2"/>
          <p:cNvSpPr/>
          <p:nvPr/>
        </p:nvSpPr>
        <p:spPr>
          <a:xfrm>
            <a:off x="815975" y="1657241"/>
            <a:ext cx="6343650" cy="3708400"/>
          </a:xfrm>
          <a:prstGeom prst="roundRect">
            <a:avLst>
              <a:gd name="adj" fmla="val 1284"/>
            </a:avLst>
          </a:prstGeom>
          <a:noFill/>
          <a:ln w="6350">
            <a:solidFill>
              <a:srgbClr val="DDD8CC"/>
            </a:solidFill>
            <a:prstDash val="solid"/>
          </a:ln>
        </p:spPr>
      </p:sp>
      <p:sp>
        <p:nvSpPr>
          <p:cNvPr id="6" name="Text 3"/>
          <p:cNvSpPr/>
          <p:nvPr/>
        </p:nvSpPr>
        <p:spPr>
          <a:xfrm>
            <a:off x="7518400" y="2060516"/>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5FBF"/>
                </a:solidFill>
                <a:latin typeface="IBM Plex Sans" pitchFamily="34" charset="0"/>
                <a:ea typeface="IBM Plex Sans" pitchFamily="34" charset="-122"/>
                <a:cs typeface="IBM Plex Sans" pitchFamily="34" charset="-120"/>
              </a:rPr>
              <a:t>A to B: +16 points</a:t>
            </a:r>
            <a:endParaRPr lang="en-US" sz="1600" dirty="0"/>
          </a:p>
        </p:txBody>
      </p:sp>
      <p:sp>
        <p:nvSpPr>
          <p:cNvPr id="7" name="Text 4"/>
          <p:cNvSpPr/>
          <p:nvPr/>
        </p:nvSpPr>
        <p:spPr>
          <a:xfrm>
            <a:off x="7518400" y="2352616"/>
            <a:ext cx="397662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19 questions gained, 0 lost, p &lt; 0.001</a:t>
            </a:r>
            <a:endParaRPr lang="en-US" sz="1400" dirty="0"/>
          </a:p>
        </p:txBody>
      </p:sp>
      <p:sp>
        <p:nvSpPr>
          <p:cNvPr id="8" name="Text 5"/>
          <p:cNvSpPr/>
          <p:nvPr/>
        </p:nvSpPr>
        <p:spPr>
          <a:xfrm>
            <a:off x="7518400" y="2770426"/>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2805C"/>
                </a:solidFill>
                <a:latin typeface="IBM Plex Sans" pitchFamily="34" charset="0"/>
                <a:ea typeface="IBM Plex Sans" pitchFamily="34" charset="-122"/>
                <a:cs typeface="IBM Plex Sans" pitchFamily="34" charset="-120"/>
              </a:rPr>
              <a:t>A to D: no effect of zoom</a:t>
            </a:r>
            <a:endParaRPr lang="en-US" sz="1600" dirty="0"/>
          </a:p>
        </p:txBody>
      </p:sp>
      <p:sp>
        <p:nvSpPr>
          <p:cNvPr id="9" name="Text 6"/>
          <p:cNvSpPr/>
          <p:nvPr/>
        </p:nvSpPr>
        <p:spPr>
          <a:xfrm>
            <a:off x="7518400" y="3062526"/>
            <a:ext cx="397662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8 against 8; F to D is 7 against 7 at the same answer format</a:t>
            </a:r>
            <a:endParaRPr lang="en-US" sz="1400" dirty="0"/>
          </a:p>
        </p:txBody>
      </p:sp>
      <p:sp>
        <p:nvSpPr>
          <p:cNvPr id="10" name="Text 7"/>
          <p:cNvSpPr/>
          <p:nvPr/>
        </p:nvSpPr>
        <p:spPr>
          <a:xfrm>
            <a:off x="7518400" y="3720346"/>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7243B"/>
                </a:solidFill>
                <a:latin typeface="IBM Plex Sans" pitchFamily="34" charset="0"/>
                <a:ea typeface="IBM Plex Sans" pitchFamily="34" charset="-122"/>
                <a:cs typeface="IBM Plex Sans" pitchFamily="34" charset="-120"/>
              </a:rPr>
              <a:t>A to F: format does not matter</a:t>
            </a:r>
            <a:endParaRPr lang="en-US" sz="1600" dirty="0"/>
          </a:p>
        </p:txBody>
      </p:sp>
      <p:sp>
        <p:nvSpPr>
          <p:cNvPr id="11" name="Text 8"/>
          <p:cNvSpPr/>
          <p:nvPr/>
        </p:nvSpPr>
        <p:spPr>
          <a:xfrm>
            <a:off x="7518400" y="4012446"/>
            <a:ext cx="397662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2 against 2, so JSON answers cost no accuracy</a:t>
            </a:r>
            <a:endParaRPr lang="en-US" sz="1400" dirty="0"/>
          </a:p>
        </p:txBody>
      </p:sp>
      <p:sp>
        <p:nvSpPr>
          <p:cNvPr id="12" name="Text 9"/>
          <p:cNvSpPr/>
          <p:nvPr/>
        </p:nvSpPr>
        <p:spPr>
          <a:xfrm>
            <a:off x="7518400" y="4430256"/>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B4451A"/>
                </a:solidFill>
                <a:latin typeface="IBM Plex Sans" pitchFamily="34" charset="0"/>
                <a:ea typeface="IBM Plex Sans" pitchFamily="34" charset="-122"/>
                <a:cs typeface="IBM Plex Sans" pitchFamily="34" charset="-120"/>
              </a:rPr>
              <a:t>B to D: −16 points</a:t>
            </a:r>
            <a:endParaRPr lang="en-US" sz="1600" dirty="0"/>
          </a:p>
        </p:txBody>
      </p:sp>
      <p:sp>
        <p:nvSpPr>
          <p:cNvPr id="13" name="Text 10"/>
          <p:cNvSpPr/>
          <p:nvPr/>
        </p:nvSpPr>
        <p:spPr>
          <a:xfrm>
            <a:off x="7518400" y="4722356"/>
            <a:ext cx="397662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1 gained, 20 lost, p &lt; 0.001</a:t>
            </a:r>
            <a:endParaRPr lang="en-US" sz="1400" dirty="0"/>
          </a:p>
        </p:txBody>
      </p:sp>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5" name="Text 12"/>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8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Answer type and zoom usage</a:t>
            </a:r>
            <a:endParaRPr lang="en-US" sz="3000" dirty="0"/>
          </a:p>
        </p:txBody>
      </p:sp>
      <p:sp>
        <p:nvSpPr>
          <p:cNvPr id="3" name="Shape 1"/>
          <p:cNvSpPr/>
          <p:nvPr/>
        </p:nvSpPr>
        <p:spPr>
          <a:xfrm>
            <a:off x="1622097" y="1444625"/>
            <a:ext cx="8636000" cy="3346450"/>
          </a:xfrm>
          <a:prstGeom prst="roundRect">
            <a:avLst>
              <a:gd name="adj" fmla="val 1518"/>
            </a:avLst>
          </a:prstGeom>
          <a:solidFill>
            <a:srgbClr val="FFFFFF"/>
          </a:solidFill>
          <a:ln/>
        </p:spPr>
      </p:sp>
      <p:pic>
        <p:nvPicPr>
          <p:cNvPr id="4" name="Image 0" descr="Two bar charts. Left: exact match by answer type, text and number, for modes A, B, D and F. Right: exact match of A and D split by whether D zoomed, 0.89 for both on the 19 questions without zoom and 0.61 for both on the 101 questions with zoom"/>
          <p:cNvPicPr>
            <a:picLocks noChangeAspect="1"/>
          </p:cNvPicPr>
          <p:nvPr/>
        </p:nvPicPr>
        <p:blipFill>
          <a:blip r:embed="rId3"/>
          <a:srcRect l="-166" r="-166"/>
          <a:stretch/>
        </p:blipFill>
        <p:spPr>
          <a:xfrm>
            <a:off x="1628447" y="1450975"/>
            <a:ext cx="8623300" cy="3333750"/>
          </a:xfrm>
          <a:prstGeom prst="roundRect">
            <a:avLst>
              <a:gd name="adj" fmla="val 1333"/>
            </a:avLst>
          </a:prstGeom>
        </p:spPr>
      </p:pic>
      <p:sp>
        <p:nvSpPr>
          <p:cNvPr id="5" name="Shape 2"/>
          <p:cNvSpPr/>
          <p:nvPr/>
        </p:nvSpPr>
        <p:spPr>
          <a:xfrm>
            <a:off x="1625272" y="1447800"/>
            <a:ext cx="8629650" cy="3340100"/>
          </a:xfrm>
          <a:prstGeom prst="roundRect">
            <a:avLst>
              <a:gd name="adj" fmla="val 1426"/>
            </a:avLst>
          </a:prstGeom>
          <a:noFill/>
          <a:ln w="6350">
            <a:solidFill>
              <a:srgbClr val="DDD8CC"/>
            </a:solidFill>
            <a:prstDash val="solid"/>
          </a:ln>
        </p:spPr>
      </p:sp>
      <p:sp>
        <p:nvSpPr>
          <p:cNvPr id="6" name="Text 3"/>
          <p:cNvSpPr/>
          <p:nvPr/>
        </p:nvSpPr>
        <p:spPr>
          <a:xfrm>
            <a:off x="812800" y="4984750"/>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56"/>
                </a:solidFill>
                <a:latin typeface="IBM Plex Sans" pitchFamily="34" charset="0"/>
                <a:ea typeface="IBM Plex Sans" pitchFamily="34" charset="-122"/>
                <a:cs typeface="IBM Plex Sans" pitchFamily="34" charset="-120"/>
              </a:rPr>
              <a:t>Text answers gain most from a bigger view (B 0.78, A 0.57); numbers gain less (0.85 against 0.75). D skips zoom on 19 of 120 questions, mostly easy ones: A and D both score 0.89 there and 0.61 on the 101 zoomed ones.</a:t>
            </a:r>
            <a:endParaRPr lang="en-US" sz="15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8" name="Text 5"/>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9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Overview budget: 256 against 768 tokens</a:t>
            </a:r>
            <a:endParaRPr lang="en-US" sz="3000" dirty="0"/>
          </a:p>
        </p:txBody>
      </p:sp>
      <p:sp>
        <p:nvSpPr>
          <p:cNvPr id="3" name="Shape 1"/>
          <p:cNvSpPr/>
          <p:nvPr/>
        </p:nvSpPr>
        <p:spPr>
          <a:xfrm>
            <a:off x="812800" y="1593850"/>
            <a:ext cx="6350000" cy="3670300"/>
          </a:xfrm>
          <a:prstGeom prst="roundRect">
            <a:avLst>
              <a:gd name="adj" fmla="val 1384"/>
            </a:avLst>
          </a:prstGeom>
          <a:solidFill>
            <a:srgbClr val="FFFFFF"/>
          </a:solidFill>
          <a:ln/>
        </p:spPr>
      </p:sp>
      <p:pic>
        <p:nvPicPr>
          <p:cNvPr id="4" name="Image 0" descr="Bar chart of exact match with and without zoom at overview budgets of 256 and 768 tokens: no zoom 0.66 and 0.79, zoom agent 0.66 and 0.71, with a reference line at 0.82 for mode B"/>
          <p:cNvPicPr>
            <a:picLocks noChangeAspect="1"/>
          </p:cNvPicPr>
          <p:nvPr/>
        </p:nvPicPr>
        <p:blipFill>
          <a:blip r:embed="rId3"/>
          <a:srcRect l="-106" r="-106"/>
          <a:stretch/>
        </p:blipFill>
        <p:spPr>
          <a:xfrm>
            <a:off x="819150" y="1600200"/>
            <a:ext cx="6337300" cy="3657600"/>
          </a:xfrm>
          <a:prstGeom prst="roundRect">
            <a:avLst>
              <a:gd name="adj" fmla="val 1215"/>
            </a:avLst>
          </a:prstGeom>
        </p:spPr>
      </p:pic>
      <p:sp>
        <p:nvSpPr>
          <p:cNvPr id="5" name="Shape 2"/>
          <p:cNvSpPr/>
          <p:nvPr/>
        </p:nvSpPr>
        <p:spPr>
          <a:xfrm>
            <a:off x="815975" y="1597025"/>
            <a:ext cx="6343650" cy="3663950"/>
          </a:xfrm>
          <a:prstGeom prst="roundRect">
            <a:avLst>
              <a:gd name="adj" fmla="val 1300"/>
            </a:avLst>
          </a:prstGeom>
          <a:noFill/>
          <a:ln w="6350">
            <a:solidFill>
              <a:srgbClr val="DDD8CC"/>
            </a:solidFill>
            <a:prstDash val="solid"/>
          </a:ln>
        </p:spPr>
      </p:sp>
      <p:sp>
        <p:nvSpPr>
          <p:cNvPr id="6" name="Text 3"/>
          <p:cNvSpPr/>
          <p:nvPr/>
        </p:nvSpPr>
        <p:spPr>
          <a:xfrm>
            <a:off x="7518400" y="2213025"/>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5FBF"/>
                </a:solidFill>
                <a:latin typeface="IBM Plex Sans" pitchFamily="34" charset="0"/>
                <a:ea typeface="IBM Plex Sans" pitchFamily="34" charset="-122"/>
                <a:cs typeface="IBM Plex Sans" pitchFamily="34" charset="-120"/>
              </a:rPr>
              <a:t>A: 0.66 to 0.79</a:t>
            </a:r>
            <a:endParaRPr lang="en-US" sz="1600" dirty="0"/>
          </a:p>
        </p:txBody>
      </p:sp>
      <p:sp>
        <p:nvSpPr>
          <p:cNvPr id="7" name="Text 4"/>
          <p:cNvSpPr/>
          <p:nvPr/>
        </p:nvSpPr>
        <p:spPr>
          <a:xfrm>
            <a:off x="7518400" y="2505125"/>
            <a:ext cx="397662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13 points for </a:t>
            </a:r>
            <a:r>
              <a:rPr lang="ru-RU" sz="1400" dirty="0">
                <a:solidFill>
                  <a:srgbClr val="3C4656"/>
                </a:solidFill>
                <a:latin typeface="IBM Plex Sans" pitchFamily="34" charset="0"/>
                <a:ea typeface="IBM Plex Sans" pitchFamily="34" charset="-122"/>
                <a:cs typeface="IBM Plex Sans" pitchFamily="34" charset="-120"/>
              </a:rPr>
              <a:t>256 –</a:t>
            </a:r>
            <a:r>
              <a:rPr lang="en-US" sz="1400" dirty="0">
                <a:solidFill>
                  <a:srgbClr val="3C4656"/>
                </a:solidFill>
                <a:latin typeface="IBM Plex Sans" pitchFamily="34" charset="0"/>
                <a:ea typeface="IBM Plex Sans" pitchFamily="34" charset="-122"/>
                <a:cs typeface="IBM Plex Sans" pitchFamily="34" charset="-120"/>
              </a:rPr>
              <a:t>&gt; 768</a:t>
            </a:r>
            <a:endParaRPr lang="en-US" sz="1400" dirty="0"/>
          </a:p>
        </p:txBody>
      </p:sp>
      <p:sp>
        <p:nvSpPr>
          <p:cNvPr id="8" name="Text 5"/>
          <p:cNvSpPr/>
          <p:nvPr/>
        </p:nvSpPr>
        <p:spPr>
          <a:xfrm>
            <a:off x="7518400" y="2922935"/>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2805C"/>
                </a:solidFill>
                <a:latin typeface="IBM Plex Sans" pitchFamily="34" charset="0"/>
                <a:ea typeface="IBM Plex Sans" pitchFamily="34" charset="-122"/>
                <a:cs typeface="IBM Plex Sans" pitchFamily="34" charset="-120"/>
              </a:rPr>
              <a:t>D at 768: 0.71</a:t>
            </a:r>
            <a:endParaRPr lang="en-US" sz="1600" dirty="0"/>
          </a:p>
        </p:txBody>
      </p:sp>
      <p:sp>
        <p:nvSpPr>
          <p:cNvPr id="9" name="Text 6"/>
          <p:cNvSpPr/>
          <p:nvPr/>
        </p:nvSpPr>
        <p:spPr>
          <a:xfrm>
            <a:off x="7518400" y="3215035"/>
            <a:ext cx="397662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8 points under A at 768 (12 questions against 2, p = 0.013)</a:t>
            </a:r>
            <a:endParaRPr lang="en-US" sz="1400" dirty="0"/>
          </a:p>
        </p:txBody>
      </p:sp>
      <p:sp>
        <p:nvSpPr>
          <p:cNvPr id="10" name="Text 7"/>
          <p:cNvSpPr/>
          <p:nvPr/>
        </p:nvSpPr>
        <p:spPr>
          <a:xfrm>
            <a:off x="7518400" y="3872855"/>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7243B"/>
                </a:solidFill>
                <a:latin typeface="IBM Plex Sans" pitchFamily="34" charset="0"/>
                <a:ea typeface="IBM Plex Sans" pitchFamily="34" charset="-122"/>
                <a:cs typeface="IBM Plex Sans" pitchFamily="34" charset="-120"/>
              </a:rPr>
              <a:t>Nothing left to recover</a:t>
            </a:r>
            <a:endParaRPr lang="en-US" sz="1600" dirty="0"/>
          </a:p>
        </p:txBody>
      </p:sp>
      <p:sp>
        <p:nvSpPr>
          <p:cNvPr id="11" name="Text 8"/>
          <p:cNvSpPr/>
          <p:nvPr/>
        </p:nvSpPr>
        <p:spPr>
          <a:xfrm>
            <a:off x="7518400" y="4164955"/>
            <a:ext cx="397662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A 1024×768 slide costs exactly 768 tokens at native resolution, so zoom only adds cost</a:t>
            </a:r>
            <a:endParaRPr lang="en-US" sz="140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3" name="Text 10"/>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10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Accuracy against cost</a:t>
            </a:r>
            <a:endParaRPr lang="en-US" sz="3000" dirty="0"/>
          </a:p>
        </p:txBody>
      </p:sp>
      <p:sp>
        <p:nvSpPr>
          <p:cNvPr id="3" name="Shape 1"/>
          <p:cNvSpPr/>
          <p:nvPr/>
        </p:nvSpPr>
        <p:spPr>
          <a:xfrm>
            <a:off x="812800" y="1485900"/>
            <a:ext cx="6604000" cy="4013200"/>
          </a:xfrm>
          <a:prstGeom prst="roundRect">
            <a:avLst>
              <a:gd name="adj" fmla="val 1266"/>
            </a:avLst>
          </a:prstGeom>
          <a:solidFill>
            <a:srgbClr val="FFFFFF"/>
          </a:solidFill>
          <a:ln/>
        </p:spPr>
      </p:sp>
      <p:pic>
        <p:nvPicPr>
          <p:cNvPr id="4" name="Image 0" descr="Scatter plot of exact match against tokens per question for all modes with 95% intervals. A 256, A 768 and B lie on a dashed efficiency frontier; D 256, D 768 and the fixed-crop mode C lie below it"/>
          <p:cNvPicPr>
            <a:picLocks noChangeAspect="1"/>
          </p:cNvPicPr>
          <p:nvPr/>
        </p:nvPicPr>
        <p:blipFill>
          <a:blip r:embed="rId3"/>
          <a:srcRect l="-97" r="-97"/>
          <a:stretch/>
        </p:blipFill>
        <p:spPr>
          <a:xfrm>
            <a:off x="819150" y="1492250"/>
            <a:ext cx="6591300" cy="4000500"/>
          </a:xfrm>
          <a:prstGeom prst="roundRect">
            <a:avLst>
              <a:gd name="adj" fmla="val 1111"/>
            </a:avLst>
          </a:prstGeom>
        </p:spPr>
      </p:pic>
      <p:sp>
        <p:nvSpPr>
          <p:cNvPr id="5" name="Shape 2"/>
          <p:cNvSpPr/>
          <p:nvPr/>
        </p:nvSpPr>
        <p:spPr>
          <a:xfrm>
            <a:off x="815975" y="1489075"/>
            <a:ext cx="6597650" cy="4006850"/>
          </a:xfrm>
          <a:prstGeom prst="roundRect">
            <a:avLst>
              <a:gd name="adj" fmla="val 1189"/>
            </a:avLst>
          </a:prstGeom>
          <a:noFill/>
          <a:ln w="6350">
            <a:solidFill>
              <a:srgbClr val="DDD8CC"/>
            </a:solidFill>
            <a:prstDash val="solid"/>
          </a:ln>
        </p:spPr>
      </p:sp>
      <p:sp>
        <p:nvSpPr>
          <p:cNvPr id="6" name="Text 3"/>
          <p:cNvSpPr/>
          <p:nvPr/>
        </p:nvSpPr>
        <p:spPr>
          <a:xfrm>
            <a:off x="7772400" y="2276525"/>
            <a:ext cx="371500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5FBF"/>
                </a:solidFill>
                <a:latin typeface="IBM Plex Sans" pitchFamily="34" charset="0"/>
                <a:ea typeface="IBM Plex Sans" pitchFamily="34" charset="-122"/>
                <a:cs typeface="IBM Plex Sans" pitchFamily="34" charset="-120"/>
              </a:rPr>
              <a:t>On the frontier</a:t>
            </a:r>
            <a:endParaRPr lang="en-US" sz="1600" dirty="0"/>
          </a:p>
        </p:txBody>
      </p:sp>
      <p:sp>
        <p:nvSpPr>
          <p:cNvPr id="7" name="Text 4"/>
          <p:cNvSpPr/>
          <p:nvPr/>
        </p:nvSpPr>
        <p:spPr>
          <a:xfrm>
            <a:off x="7772400" y="2568625"/>
            <a:ext cx="371500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A at 256 tokens, A at 768 tokens and B</a:t>
            </a:r>
            <a:endParaRPr lang="en-US" sz="1400" dirty="0"/>
          </a:p>
        </p:txBody>
      </p:sp>
      <p:sp>
        <p:nvSpPr>
          <p:cNvPr id="8" name="Text 5"/>
          <p:cNvSpPr/>
          <p:nvPr/>
        </p:nvSpPr>
        <p:spPr>
          <a:xfrm>
            <a:off x="7772400" y="2986435"/>
            <a:ext cx="371500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2805C"/>
                </a:solidFill>
                <a:latin typeface="IBM Plex Sans" pitchFamily="34" charset="0"/>
                <a:ea typeface="IBM Plex Sans" pitchFamily="34" charset="-122"/>
                <a:cs typeface="IBM Plex Sans" pitchFamily="34" charset="-120"/>
              </a:rPr>
              <a:t>Below it</a:t>
            </a:r>
            <a:endParaRPr lang="en-US" sz="1600" dirty="0"/>
          </a:p>
        </p:txBody>
      </p:sp>
      <p:sp>
        <p:nvSpPr>
          <p:cNvPr id="9" name="Text 6"/>
          <p:cNvSpPr/>
          <p:nvPr/>
        </p:nvSpPr>
        <p:spPr>
          <a:xfrm>
            <a:off x="7772400" y="3278535"/>
            <a:ext cx="371500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Both agent runs, and C at 5003 tokens for EM 0.75</a:t>
            </a:r>
            <a:endParaRPr lang="en-US" sz="1400" dirty="0"/>
          </a:p>
        </p:txBody>
      </p:sp>
      <p:sp>
        <p:nvSpPr>
          <p:cNvPr id="10" name="Text 7"/>
          <p:cNvSpPr/>
          <p:nvPr/>
        </p:nvSpPr>
        <p:spPr>
          <a:xfrm>
            <a:off x="7772400" y="3936355"/>
            <a:ext cx="371500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7243B"/>
                </a:solidFill>
                <a:latin typeface="IBM Plex Sans" pitchFamily="34" charset="0"/>
                <a:ea typeface="IBM Plex Sans" pitchFamily="34" charset="-122"/>
                <a:cs typeface="IBM Plex Sans" pitchFamily="34" charset="-120"/>
              </a:rPr>
              <a:t>768 to 1500 tokens</a:t>
            </a:r>
            <a:endParaRPr lang="en-US" sz="1600" dirty="0"/>
          </a:p>
        </p:txBody>
      </p:sp>
      <p:sp>
        <p:nvSpPr>
          <p:cNvPr id="11" name="Text 8"/>
          <p:cNvSpPr/>
          <p:nvPr/>
        </p:nvSpPr>
        <p:spPr>
          <a:xfrm>
            <a:off x="7772400" y="4228455"/>
            <a:ext cx="371500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+2.5 points for about 780 more tokens, inside the noise (p = 0.375)</a:t>
            </a:r>
            <a:endParaRPr lang="en-US" sz="140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3" name="Text 10"/>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Own and dense slides, @ 2560 px</a:t>
            </a:r>
            <a:endParaRPr lang="en-US" sz="3000" dirty="0"/>
          </a:p>
        </p:txBody>
      </p:sp>
      <p:sp>
        <p:nvSpPr>
          <p:cNvPr id="3" name="Shape 1"/>
          <p:cNvSpPr/>
          <p:nvPr/>
        </p:nvSpPr>
        <p:spPr>
          <a:xfrm>
            <a:off x="809625" y="1819275"/>
            <a:ext cx="6350000" cy="3219450"/>
          </a:xfrm>
          <a:prstGeom prst="roundRect">
            <a:avLst>
              <a:gd name="adj" fmla="val 1578"/>
            </a:avLst>
          </a:prstGeom>
          <a:solidFill>
            <a:srgbClr val="FFFFFF"/>
          </a:solidFill>
          <a:ln/>
        </p:spPr>
      </p:sp>
      <p:pic>
        <p:nvPicPr>
          <p:cNvPr id="4" name="Image 0" descr="Grouped bar chart of exact match with 95% intervals on 20 own, 20 dense and all 40 questions for A at 256 tokens, A at 768 tokens, B, C and D"/>
          <p:cNvPicPr>
            <a:picLocks noChangeAspect="1"/>
          </p:cNvPicPr>
          <p:nvPr/>
        </p:nvPicPr>
        <p:blipFill>
          <a:blip r:embed="rId3"/>
          <a:srcRect l="-112" r="-112"/>
          <a:stretch/>
        </p:blipFill>
        <p:spPr>
          <a:xfrm>
            <a:off x="815975" y="1825625"/>
            <a:ext cx="6337300" cy="3206750"/>
          </a:xfrm>
          <a:prstGeom prst="roundRect">
            <a:avLst>
              <a:gd name="adj" fmla="val 1386"/>
            </a:avLst>
          </a:prstGeom>
        </p:spPr>
      </p:pic>
      <p:sp>
        <p:nvSpPr>
          <p:cNvPr id="5" name="Shape 2"/>
          <p:cNvSpPr/>
          <p:nvPr/>
        </p:nvSpPr>
        <p:spPr>
          <a:xfrm>
            <a:off x="812800" y="1822450"/>
            <a:ext cx="6343650" cy="3213100"/>
          </a:xfrm>
          <a:prstGeom prst="roundRect">
            <a:avLst>
              <a:gd name="adj" fmla="val 1482"/>
            </a:avLst>
          </a:prstGeom>
          <a:noFill/>
          <a:ln w="6350">
            <a:solidFill>
              <a:srgbClr val="DDD8CC"/>
            </a:solidFill>
            <a:prstDash val="solid"/>
          </a:ln>
        </p:spPr>
      </p:sp>
      <p:sp>
        <p:nvSpPr>
          <p:cNvPr id="6" name="Text 3"/>
          <p:cNvSpPr/>
          <p:nvPr/>
        </p:nvSpPr>
        <p:spPr>
          <a:xfrm>
            <a:off x="7515225" y="2333030"/>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2805C"/>
                </a:solidFill>
                <a:latin typeface="IBM Plex Sans" pitchFamily="34" charset="0"/>
                <a:ea typeface="IBM Plex Sans" pitchFamily="34" charset="-122"/>
                <a:cs typeface="IBM Plex Sans" pitchFamily="34" charset="-120"/>
              </a:rPr>
              <a:t>D 0.85 against A 0.62</a:t>
            </a:r>
            <a:endParaRPr lang="en-US" sz="1600" dirty="0"/>
          </a:p>
        </p:txBody>
      </p:sp>
      <p:sp>
        <p:nvSpPr>
          <p:cNvPr id="7" name="Text 4"/>
          <p:cNvSpPr/>
          <p:nvPr/>
        </p:nvSpPr>
        <p:spPr>
          <a:xfrm>
            <a:off x="7515225" y="2614341"/>
            <a:ext cx="463296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+22.5 points on all 40 (13 against 4, p = 0.049)</a:t>
            </a:r>
            <a:endParaRPr lang="en-US" sz="1400" dirty="0"/>
          </a:p>
        </p:txBody>
      </p:sp>
      <p:sp>
        <p:nvSpPr>
          <p:cNvPr id="8" name="Text 5"/>
          <p:cNvSpPr/>
          <p:nvPr/>
        </p:nvSpPr>
        <p:spPr>
          <a:xfrm>
            <a:off x="7515225" y="3042940"/>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5FBF"/>
                </a:solidFill>
                <a:latin typeface="IBM Plex Sans" pitchFamily="34" charset="0"/>
                <a:ea typeface="IBM Plex Sans" pitchFamily="34" charset="-122"/>
                <a:cs typeface="IBM Plex Sans" pitchFamily="34" charset="-120"/>
              </a:rPr>
              <a:t>A at 768 and B match D</a:t>
            </a:r>
            <a:endParaRPr lang="en-US" sz="1600" dirty="0"/>
          </a:p>
        </p:txBody>
      </p:sp>
      <p:sp>
        <p:nvSpPr>
          <p:cNvPr id="9" name="Text 6"/>
          <p:cNvSpPr/>
          <p:nvPr/>
        </p:nvSpPr>
        <p:spPr>
          <a:xfrm>
            <a:off x="7515225" y="3335040"/>
            <a:ext cx="397662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0.90 and 0.93, within noise of D</a:t>
            </a:r>
            <a:endParaRPr lang="en-US" sz="1400" dirty="0"/>
          </a:p>
        </p:txBody>
      </p:sp>
      <p:sp>
        <p:nvSpPr>
          <p:cNvPr id="10" name="Text 7"/>
          <p:cNvSpPr/>
          <p:nvPr/>
        </p:nvSpPr>
        <p:spPr>
          <a:xfrm>
            <a:off x="7515225" y="3752850"/>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B4451A"/>
                </a:solidFill>
                <a:latin typeface="IBM Plex Sans" pitchFamily="34" charset="0"/>
                <a:ea typeface="IBM Plex Sans" pitchFamily="34" charset="-122"/>
                <a:cs typeface="IBM Plex Sans" pitchFamily="34" charset="-120"/>
              </a:rPr>
              <a:t>Dense slides favour tiles</a:t>
            </a:r>
            <a:endParaRPr lang="en-US" sz="1600" dirty="0"/>
          </a:p>
        </p:txBody>
      </p:sp>
      <p:sp>
        <p:nvSpPr>
          <p:cNvPr id="11" name="Text 8"/>
          <p:cNvSpPr/>
          <p:nvPr/>
        </p:nvSpPr>
        <p:spPr>
          <a:xfrm>
            <a:off x="7515225" y="4044950"/>
            <a:ext cx="397662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C scores 0.95 on the 20 dense questions; small text rises from 0.60 (A) to 0.93 (B and C)</a:t>
            </a:r>
            <a:endParaRPr lang="en-US" sz="140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3" name="Text 10"/>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Heatmap by detail type</a:t>
            </a:r>
            <a:r>
              <a:rPr lang="en-US" b="1" dirty="0">
                <a:latin typeface="Source Serif 4" pitchFamily="18" charset="0"/>
                <a:ea typeface="Source Serif 4" pitchFamily="18" charset="-122"/>
                <a:cs typeface="Source Serif 4" pitchFamily="18" charset="-120"/>
              </a:rPr>
              <a:t> on </a:t>
            </a:r>
            <a:r>
              <a:rPr lang="en-US" sz="3000" b="1" i="0" dirty="0">
                <a:solidFill>
                  <a:srgbClr val="17243B"/>
                </a:solidFill>
                <a:latin typeface="Source Serif 4" pitchFamily="18" charset="0"/>
                <a:ea typeface="Source Serif 4" pitchFamily="18" charset="-122"/>
                <a:cs typeface="Source Serif 4" pitchFamily="18" charset="-120"/>
              </a:rPr>
              <a:t>20 own questions</a:t>
            </a:r>
            <a:endParaRPr lang="en-US" sz="3000" dirty="0"/>
          </a:p>
        </p:txBody>
      </p:sp>
      <p:sp>
        <p:nvSpPr>
          <p:cNvPr id="3" name="Shape 1"/>
          <p:cNvSpPr/>
          <p:nvPr/>
        </p:nvSpPr>
        <p:spPr>
          <a:xfrm>
            <a:off x="812800" y="2003425"/>
            <a:ext cx="6350000" cy="2851150"/>
          </a:xfrm>
          <a:prstGeom prst="roundRect">
            <a:avLst>
              <a:gd name="adj" fmla="val 1782"/>
            </a:avLst>
          </a:prstGeom>
          <a:solidFill>
            <a:srgbClr val="FFFFFF"/>
          </a:solidFill>
          <a:ln/>
        </p:spPr>
      </p:sp>
      <p:pic>
        <p:nvPicPr>
          <p:cNvPr id="4" name="Image 0" descr="Heatmap of exact match by detail type (axis label, chart value, small text, block relation) and mode A to F on the 20 own questions, 5 per type. A and F score 0.2 on axis labels; every other mode scores 1.0"/>
          <p:cNvPicPr>
            <a:picLocks noChangeAspect="1"/>
          </p:cNvPicPr>
          <p:nvPr/>
        </p:nvPicPr>
        <p:blipFill>
          <a:blip r:embed="rId3"/>
          <a:srcRect l="-154" r="-154"/>
          <a:stretch/>
        </p:blipFill>
        <p:spPr>
          <a:xfrm>
            <a:off x="819150" y="2009775"/>
            <a:ext cx="6337300" cy="2838450"/>
          </a:xfrm>
          <a:prstGeom prst="roundRect">
            <a:avLst>
              <a:gd name="adj" fmla="val 1566"/>
            </a:avLst>
          </a:prstGeom>
        </p:spPr>
      </p:pic>
      <p:sp>
        <p:nvSpPr>
          <p:cNvPr id="5" name="Shape 2"/>
          <p:cNvSpPr/>
          <p:nvPr/>
        </p:nvSpPr>
        <p:spPr>
          <a:xfrm>
            <a:off x="815975" y="2006600"/>
            <a:ext cx="6343650" cy="2844800"/>
          </a:xfrm>
          <a:prstGeom prst="roundRect">
            <a:avLst>
              <a:gd name="adj" fmla="val 1674"/>
            </a:avLst>
          </a:prstGeom>
          <a:noFill/>
          <a:ln w="6350">
            <a:solidFill>
              <a:srgbClr val="DDD8CC"/>
            </a:solidFill>
            <a:prstDash val="solid"/>
          </a:ln>
        </p:spPr>
      </p:sp>
      <p:sp>
        <p:nvSpPr>
          <p:cNvPr id="6" name="Text 3"/>
          <p:cNvSpPr/>
          <p:nvPr/>
        </p:nvSpPr>
        <p:spPr>
          <a:xfrm>
            <a:off x="7518400" y="2141289"/>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5FBF"/>
                </a:solidFill>
                <a:latin typeface="IBM Plex Sans" pitchFamily="34" charset="0"/>
                <a:ea typeface="IBM Plex Sans" pitchFamily="34" charset="-122"/>
                <a:cs typeface="IBM Plex Sans" pitchFamily="34" charset="-120"/>
              </a:rPr>
              <a:t>Axis labels</a:t>
            </a:r>
            <a:endParaRPr lang="en-US" sz="1600" dirty="0"/>
          </a:p>
        </p:txBody>
      </p:sp>
      <p:sp>
        <p:nvSpPr>
          <p:cNvPr id="7" name="Text 4"/>
          <p:cNvSpPr/>
          <p:nvPr/>
        </p:nvSpPr>
        <p:spPr>
          <a:xfrm>
            <a:off x="7518400" y="2433389"/>
            <a:ext cx="463296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A and F score 0.2; B, C, D and E read them (1.0)</a:t>
            </a:r>
            <a:endParaRPr lang="en-US" sz="1400" dirty="0"/>
          </a:p>
        </p:txBody>
      </p:sp>
      <p:sp>
        <p:nvSpPr>
          <p:cNvPr id="8" name="Text 5"/>
          <p:cNvSpPr/>
          <p:nvPr/>
        </p:nvSpPr>
        <p:spPr>
          <a:xfrm>
            <a:off x="7518400" y="2851200"/>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B4451A"/>
                </a:solidFill>
                <a:latin typeface="IBM Plex Sans" pitchFamily="34" charset="0"/>
                <a:ea typeface="IBM Plex Sans" pitchFamily="34" charset="-122"/>
                <a:cs typeface="IBM Plex Sans" pitchFamily="34" charset="-120"/>
              </a:rPr>
              <a:t>Chart values</a:t>
            </a:r>
            <a:endParaRPr lang="en-US" sz="1600" dirty="0"/>
          </a:p>
        </p:txBody>
      </p:sp>
      <p:sp>
        <p:nvSpPr>
          <p:cNvPr id="9" name="Text 6"/>
          <p:cNvSpPr/>
          <p:nvPr/>
        </p:nvSpPr>
        <p:spPr>
          <a:xfrm>
            <a:off x="7518400" y="3143300"/>
            <a:ext cx="397662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The weakest type for every mode, 0.4 to 0.8</a:t>
            </a:r>
            <a:endParaRPr lang="en-US" sz="1400" dirty="0"/>
          </a:p>
        </p:txBody>
      </p:sp>
      <p:sp>
        <p:nvSpPr>
          <p:cNvPr id="10" name="Text 7"/>
          <p:cNvSpPr/>
          <p:nvPr/>
        </p:nvSpPr>
        <p:spPr>
          <a:xfrm>
            <a:off x="7518400" y="3561110"/>
            <a:ext cx="39766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7243B"/>
                </a:solidFill>
                <a:latin typeface="IBM Plex Sans" pitchFamily="34" charset="0"/>
                <a:ea typeface="IBM Plex Sans" pitchFamily="34" charset="-122"/>
                <a:cs typeface="IBM Plex Sans" pitchFamily="34" charset="-120"/>
              </a:rPr>
              <a:t>Blocks and small text</a:t>
            </a:r>
            <a:endParaRPr lang="en-US" sz="1600" dirty="0"/>
          </a:p>
        </p:txBody>
      </p:sp>
      <p:sp>
        <p:nvSpPr>
          <p:cNvPr id="11" name="Text 8"/>
          <p:cNvSpPr/>
          <p:nvPr/>
        </p:nvSpPr>
        <p:spPr>
          <a:xfrm>
            <a:off x="7518400" y="3853210"/>
            <a:ext cx="397662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Easy at this slide size, 0.6 to 1.0</a:t>
            </a:r>
            <a:endParaRPr lang="en-US" sz="1400" dirty="0"/>
          </a:p>
        </p:txBody>
      </p:sp>
      <p:sp>
        <p:nvSpPr>
          <p:cNvPr id="12" name="Text 9"/>
          <p:cNvSpPr/>
          <p:nvPr/>
        </p:nvSpPr>
        <p:spPr>
          <a:xfrm>
            <a:off x="7518400" y="4271020"/>
            <a:ext cx="397662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6B7380"/>
                </a:solidFill>
                <a:latin typeface="IBM Plex Sans" pitchFamily="34" charset="0"/>
                <a:ea typeface="IBM Plex Sans" pitchFamily="34" charset="-122"/>
                <a:cs typeface="IBM Plex Sans" pitchFamily="34" charset="-120"/>
              </a:rPr>
              <a:t>Five questions per cell: one question moves a cell by 0.2.</a:t>
            </a:r>
            <a:endParaRPr lang="en-US" sz="13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4" name="Text 11"/>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13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Error analysis on SlideVQA test</a:t>
            </a:r>
            <a:endParaRPr lang="en-US" sz="3000" dirty="0"/>
          </a:p>
        </p:txBody>
      </p:sp>
      <p:sp>
        <p:nvSpPr>
          <p:cNvPr id="3" name="Shape 1"/>
          <p:cNvSpPr/>
          <p:nvPr/>
        </p:nvSpPr>
        <p:spPr>
          <a:xfrm>
            <a:off x="812800" y="1461740"/>
            <a:ext cx="177800" cy="177800"/>
          </a:xfrm>
          <a:prstGeom prst="roundRect">
            <a:avLst>
              <a:gd name="adj" fmla="val 14286"/>
            </a:avLst>
          </a:prstGeom>
          <a:solidFill>
            <a:srgbClr val="8A93A3"/>
          </a:solidFill>
          <a:ln/>
        </p:spPr>
      </p:sp>
      <p:sp>
        <p:nvSpPr>
          <p:cNvPr id="4" name="Text 2"/>
          <p:cNvSpPr/>
          <p:nvPr/>
        </p:nvSpPr>
        <p:spPr>
          <a:xfrm>
            <a:off x="1066800" y="1435100"/>
            <a:ext cx="123253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pitchFamily="34" charset="0"/>
                <a:ea typeface="IBM Plex Sans" pitchFamily="34" charset="-122"/>
                <a:cs typeface="IBM Plex Sans" pitchFamily="34" charset="-120"/>
              </a:rPr>
              <a:t>A, 256 tokens</a:t>
            </a:r>
            <a:endParaRPr lang="en-US" sz="1300" dirty="0"/>
          </a:p>
        </p:txBody>
      </p:sp>
      <p:sp>
        <p:nvSpPr>
          <p:cNvPr id="5" name="Shape 3"/>
          <p:cNvSpPr/>
          <p:nvPr/>
        </p:nvSpPr>
        <p:spPr>
          <a:xfrm>
            <a:off x="2347913" y="1461740"/>
            <a:ext cx="177800" cy="177800"/>
          </a:xfrm>
          <a:prstGeom prst="roundRect">
            <a:avLst>
              <a:gd name="adj" fmla="val 14286"/>
            </a:avLst>
          </a:prstGeom>
          <a:solidFill>
            <a:srgbClr val="1BAF7A"/>
          </a:solidFill>
          <a:ln/>
        </p:spPr>
      </p:sp>
      <p:sp>
        <p:nvSpPr>
          <p:cNvPr id="6" name="Text 4"/>
          <p:cNvSpPr/>
          <p:nvPr/>
        </p:nvSpPr>
        <p:spPr>
          <a:xfrm>
            <a:off x="2601913" y="1435100"/>
            <a:ext cx="125926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pitchFamily="34" charset="0"/>
                <a:ea typeface="IBM Plex Sans" pitchFamily="34" charset="-122"/>
                <a:cs typeface="IBM Plex Sans" pitchFamily="34" charset="-120"/>
              </a:rPr>
              <a:t>D, zoom agent</a:t>
            </a:r>
            <a:endParaRPr lang="en-US" sz="1300" dirty="0"/>
          </a:p>
        </p:txBody>
      </p:sp>
      <p:sp>
        <p:nvSpPr>
          <p:cNvPr id="7" name="Text 5"/>
          <p:cNvSpPr/>
          <p:nvPr/>
        </p:nvSpPr>
        <p:spPr>
          <a:xfrm>
            <a:off x="3905300" y="1435100"/>
            <a:ext cx="387131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380"/>
                </a:solidFill>
                <a:latin typeface="IBM Plex Sans" pitchFamily="34" charset="0"/>
                <a:ea typeface="IBM Plex Sans" pitchFamily="34" charset="-122"/>
                <a:cs typeface="IBM Plex Sans" pitchFamily="34" charset="-120"/>
              </a:rPr>
              <a:t>30 sampled errors each, count per category</a:t>
            </a:r>
            <a:endParaRPr lang="en-US" sz="1300" dirty="0"/>
          </a:p>
        </p:txBody>
      </p:sp>
      <p:sp>
        <p:nvSpPr>
          <p:cNvPr id="8" name="Text 6"/>
          <p:cNvSpPr/>
          <p:nvPr/>
        </p:nvSpPr>
        <p:spPr>
          <a:xfrm>
            <a:off x="812800" y="1918940"/>
            <a:ext cx="1511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43B"/>
                </a:solidFill>
                <a:latin typeface="IBM Plex Sans" pitchFamily="34" charset="0"/>
                <a:ea typeface="IBM Plex Sans" pitchFamily="34" charset="-122"/>
                <a:cs typeface="IBM Plex Sans" pitchFamily="34" charset="-120"/>
              </a:rPr>
              <a:t>no_zoom</a:t>
            </a:r>
            <a:endParaRPr lang="en-US" sz="1400" dirty="0"/>
          </a:p>
        </p:txBody>
      </p:sp>
      <p:sp>
        <p:nvSpPr>
          <p:cNvPr id="9" name="Shape 7"/>
          <p:cNvSpPr/>
          <p:nvPr/>
        </p:nvSpPr>
        <p:spPr>
          <a:xfrm>
            <a:off x="2425700" y="1819870"/>
            <a:ext cx="2743200" cy="177800"/>
          </a:xfrm>
          <a:prstGeom prst="roundRect">
            <a:avLst>
              <a:gd name="adj" fmla="val 14286"/>
            </a:avLst>
          </a:prstGeom>
          <a:solidFill>
            <a:srgbClr val="8A93A3"/>
          </a:solidFill>
          <a:ln/>
        </p:spPr>
      </p:sp>
      <p:sp>
        <p:nvSpPr>
          <p:cNvPr id="10" name="Text 8"/>
          <p:cNvSpPr/>
          <p:nvPr/>
        </p:nvSpPr>
        <p:spPr>
          <a:xfrm>
            <a:off x="5232400" y="1793230"/>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12</a:t>
            </a:r>
            <a:endParaRPr lang="en-US" sz="1300" dirty="0"/>
          </a:p>
        </p:txBody>
      </p:sp>
      <p:sp>
        <p:nvSpPr>
          <p:cNvPr id="11" name="Shape 9"/>
          <p:cNvSpPr/>
          <p:nvPr/>
        </p:nvSpPr>
        <p:spPr>
          <a:xfrm>
            <a:off x="2425700" y="2089100"/>
            <a:ext cx="228600" cy="177800"/>
          </a:xfrm>
          <a:prstGeom prst="roundRect">
            <a:avLst>
              <a:gd name="adj" fmla="val 14286"/>
            </a:avLst>
          </a:prstGeom>
          <a:solidFill>
            <a:srgbClr val="1BAF7A"/>
          </a:solidFill>
          <a:ln/>
        </p:spPr>
      </p:sp>
      <p:sp>
        <p:nvSpPr>
          <p:cNvPr id="12" name="Text 10"/>
          <p:cNvSpPr/>
          <p:nvPr/>
        </p:nvSpPr>
        <p:spPr>
          <a:xfrm>
            <a:off x="2717800" y="2062460"/>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1</a:t>
            </a:r>
            <a:endParaRPr lang="en-US" sz="1300" dirty="0"/>
          </a:p>
        </p:txBody>
      </p:sp>
      <p:sp>
        <p:nvSpPr>
          <p:cNvPr id="13" name="Text 11"/>
          <p:cNvSpPr/>
          <p:nvPr/>
        </p:nvSpPr>
        <p:spPr>
          <a:xfrm>
            <a:off x="812800" y="2546300"/>
            <a:ext cx="1511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43B"/>
                </a:solidFill>
                <a:latin typeface="IBM Plex Sans" pitchFamily="34" charset="0"/>
                <a:ea typeface="IBM Plex Sans" pitchFamily="34" charset="-122"/>
                <a:cs typeface="IBM Plex Sans" pitchFamily="34" charset="-120"/>
              </a:rPr>
              <a:t>wrong_region</a:t>
            </a:r>
            <a:endParaRPr lang="en-US" sz="1400" dirty="0"/>
          </a:p>
        </p:txBody>
      </p:sp>
      <p:sp>
        <p:nvSpPr>
          <p:cNvPr id="14" name="Shape 12"/>
          <p:cNvSpPr/>
          <p:nvPr/>
        </p:nvSpPr>
        <p:spPr>
          <a:xfrm>
            <a:off x="2425700" y="2447230"/>
            <a:ext cx="25400" cy="177800"/>
          </a:xfrm>
          <a:prstGeom prst="rect">
            <a:avLst/>
          </a:prstGeom>
          <a:solidFill>
            <a:srgbClr val="8A93A3"/>
          </a:solidFill>
          <a:ln/>
        </p:spPr>
      </p:sp>
      <p:sp>
        <p:nvSpPr>
          <p:cNvPr id="15" name="Text 13"/>
          <p:cNvSpPr/>
          <p:nvPr/>
        </p:nvSpPr>
        <p:spPr>
          <a:xfrm>
            <a:off x="2514600" y="2420590"/>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0</a:t>
            </a:r>
            <a:endParaRPr lang="en-US" sz="1300" dirty="0"/>
          </a:p>
        </p:txBody>
      </p:sp>
      <p:sp>
        <p:nvSpPr>
          <p:cNvPr id="16" name="Shape 14"/>
          <p:cNvSpPr/>
          <p:nvPr/>
        </p:nvSpPr>
        <p:spPr>
          <a:xfrm>
            <a:off x="2425700" y="2716461"/>
            <a:ext cx="2286000" cy="177800"/>
          </a:xfrm>
          <a:prstGeom prst="roundRect">
            <a:avLst>
              <a:gd name="adj" fmla="val 14286"/>
            </a:avLst>
          </a:prstGeom>
          <a:solidFill>
            <a:srgbClr val="1BAF7A"/>
          </a:solidFill>
          <a:ln/>
        </p:spPr>
      </p:sp>
      <p:sp>
        <p:nvSpPr>
          <p:cNvPr id="17" name="Text 15"/>
          <p:cNvSpPr/>
          <p:nvPr/>
        </p:nvSpPr>
        <p:spPr>
          <a:xfrm>
            <a:off x="4775200" y="2689820"/>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10</a:t>
            </a:r>
            <a:endParaRPr lang="en-US" sz="1300" dirty="0"/>
          </a:p>
        </p:txBody>
      </p:sp>
      <p:sp>
        <p:nvSpPr>
          <p:cNvPr id="18" name="Text 16"/>
          <p:cNvSpPr/>
          <p:nvPr/>
        </p:nvSpPr>
        <p:spPr>
          <a:xfrm>
            <a:off x="812800" y="3173661"/>
            <a:ext cx="1511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43B"/>
                </a:solidFill>
                <a:latin typeface="IBM Plex Sans" pitchFamily="34" charset="0"/>
                <a:ea typeface="IBM Plex Sans" pitchFamily="34" charset="-122"/>
                <a:cs typeface="IBM Plex Sans" pitchFamily="34" charset="-120"/>
              </a:rPr>
              <a:t>format</a:t>
            </a:r>
            <a:endParaRPr lang="en-US" sz="1400" dirty="0"/>
          </a:p>
        </p:txBody>
      </p:sp>
      <p:sp>
        <p:nvSpPr>
          <p:cNvPr id="19" name="Shape 17"/>
          <p:cNvSpPr/>
          <p:nvPr/>
        </p:nvSpPr>
        <p:spPr>
          <a:xfrm>
            <a:off x="2425700" y="3074591"/>
            <a:ext cx="1828800" cy="177800"/>
          </a:xfrm>
          <a:prstGeom prst="roundRect">
            <a:avLst>
              <a:gd name="adj" fmla="val 14286"/>
            </a:avLst>
          </a:prstGeom>
          <a:solidFill>
            <a:srgbClr val="8A93A3"/>
          </a:solidFill>
          <a:ln/>
        </p:spPr>
      </p:sp>
      <p:sp>
        <p:nvSpPr>
          <p:cNvPr id="20" name="Text 18"/>
          <p:cNvSpPr/>
          <p:nvPr/>
        </p:nvSpPr>
        <p:spPr>
          <a:xfrm>
            <a:off x="4318000" y="3047950"/>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8</a:t>
            </a:r>
            <a:endParaRPr lang="en-US" sz="1300" dirty="0"/>
          </a:p>
        </p:txBody>
      </p:sp>
      <p:sp>
        <p:nvSpPr>
          <p:cNvPr id="21" name="Shape 19"/>
          <p:cNvSpPr/>
          <p:nvPr/>
        </p:nvSpPr>
        <p:spPr>
          <a:xfrm>
            <a:off x="2425700" y="3343821"/>
            <a:ext cx="2286000" cy="177800"/>
          </a:xfrm>
          <a:prstGeom prst="roundRect">
            <a:avLst>
              <a:gd name="adj" fmla="val 14286"/>
            </a:avLst>
          </a:prstGeom>
          <a:solidFill>
            <a:srgbClr val="1BAF7A"/>
          </a:solidFill>
          <a:ln/>
        </p:spPr>
      </p:sp>
      <p:sp>
        <p:nvSpPr>
          <p:cNvPr id="22" name="Text 20"/>
          <p:cNvSpPr/>
          <p:nvPr/>
        </p:nvSpPr>
        <p:spPr>
          <a:xfrm>
            <a:off x="4775200" y="3317180"/>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10</a:t>
            </a:r>
            <a:endParaRPr lang="en-US" sz="1300" dirty="0"/>
          </a:p>
        </p:txBody>
      </p:sp>
      <p:sp>
        <p:nvSpPr>
          <p:cNvPr id="23" name="Text 21"/>
          <p:cNvSpPr/>
          <p:nvPr/>
        </p:nvSpPr>
        <p:spPr>
          <a:xfrm>
            <a:off x="812800" y="3801021"/>
            <a:ext cx="1511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43B"/>
                </a:solidFill>
                <a:latin typeface="IBM Plex Sans" pitchFamily="34" charset="0"/>
                <a:ea typeface="IBM Plex Sans" pitchFamily="34" charset="-122"/>
                <a:cs typeface="IBM Plex Sans" pitchFamily="34" charset="-120"/>
              </a:rPr>
              <a:t>misread</a:t>
            </a:r>
            <a:endParaRPr lang="en-US" sz="1400" dirty="0"/>
          </a:p>
        </p:txBody>
      </p:sp>
      <p:sp>
        <p:nvSpPr>
          <p:cNvPr id="24" name="Shape 22"/>
          <p:cNvSpPr/>
          <p:nvPr/>
        </p:nvSpPr>
        <p:spPr>
          <a:xfrm>
            <a:off x="2425700" y="3701951"/>
            <a:ext cx="685800" cy="177800"/>
          </a:xfrm>
          <a:prstGeom prst="roundRect">
            <a:avLst>
              <a:gd name="adj" fmla="val 14286"/>
            </a:avLst>
          </a:prstGeom>
          <a:solidFill>
            <a:srgbClr val="8A93A3"/>
          </a:solidFill>
          <a:ln/>
        </p:spPr>
      </p:sp>
      <p:sp>
        <p:nvSpPr>
          <p:cNvPr id="25" name="Text 23"/>
          <p:cNvSpPr/>
          <p:nvPr/>
        </p:nvSpPr>
        <p:spPr>
          <a:xfrm>
            <a:off x="3175000" y="3675311"/>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3</a:t>
            </a:r>
            <a:endParaRPr lang="en-US" sz="1300" dirty="0"/>
          </a:p>
        </p:txBody>
      </p:sp>
      <p:sp>
        <p:nvSpPr>
          <p:cNvPr id="26" name="Shape 24"/>
          <p:cNvSpPr/>
          <p:nvPr/>
        </p:nvSpPr>
        <p:spPr>
          <a:xfrm>
            <a:off x="2425700" y="3971181"/>
            <a:ext cx="457200" cy="177800"/>
          </a:xfrm>
          <a:prstGeom prst="roundRect">
            <a:avLst>
              <a:gd name="adj" fmla="val 14286"/>
            </a:avLst>
          </a:prstGeom>
          <a:solidFill>
            <a:srgbClr val="1BAF7A"/>
          </a:solidFill>
          <a:ln/>
        </p:spPr>
      </p:sp>
      <p:sp>
        <p:nvSpPr>
          <p:cNvPr id="27" name="Text 25"/>
          <p:cNvSpPr/>
          <p:nvPr/>
        </p:nvSpPr>
        <p:spPr>
          <a:xfrm>
            <a:off x="2946400" y="3944541"/>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2</a:t>
            </a:r>
            <a:endParaRPr lang="en-US" sz="1300" dirty="0"/>
          </a:p>
        </p:txBody>
      </p:sp>
      <p:sp>
        <p:nvSpPr>
          <p:cNvPr id="28" name="Text 26"/>
          <p:cNvSpPr/>
          <p:nvPr/>
        </p:nvSpPr>
        <p:spPr>
          <a:xfrm>
            <a:off x="812800" y="4428381"/>
            <a:ext cx="1511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43B"/>
                </a:solidFill>
                <a:latin typeface="IBM Plex Sans" pitchFamily="34" charset="0"/>
                <a:ea typeface="IBM Plex Sans" pitchFamily="34" charset="-122"/>
                <a:cs typeface="IBM Plex Sans" pitchFamily="34" charset="-120"/>
              </a:rPr>
              <a:t>reasoning</a:t>
            </a:r>
            <a:endParaRPr lang="en-US" sz="1400" dirty="0"/>
          </a:p>
        </p:txBody>
      </p:sp>
      <p:sp>
        <p:nvSpPr>
          <p:cNvPr id="29" name="Shape 27"/>
          <p:cNvSpPr/>
          <p:nvPr/>
        </p:nvSpPr>
        <p:spPr>
          <a:xfrm>
            <a:off x="2425700" y="4329311"/>
            <a:ext cx="1143000" cy="177800"/>
          </a:xfrm>
          <a:prstGeom prst="roundRect">
            <a:avLst>
              <a:gd name="adj" fmla="val 14286"/>
            </a:avLst>
          </a:prstGeom>
          <a:solidFill>
            <a:srgbClr val="8A93A3"/>
          </a:solidFill>
          <a:ln/>
        </p:spPr>
      </p:sp>
      <p:sp>
        <p:nvSpPr>
          <p:cNvPr id="30" name="Text 28"/>
          <p:cNvSpPr/>
          <p:nvPr/>
        </p:nvSpPr>
        <p:spPr>
          <a:xfrm>
            <a:off x="3632200" y="4302671"/>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5</a:t>
            </a:r>
            <a:endParaRPr lang="en-US" sz="1300" dirty="0"/>
          </a:p>
        </p:txBody>
      </p:sp>
      <p:sp>
        <p:nvSpPr>
          <p:cNvPr id="31" name="Shape 29"/>
          <p:cNvSpPr/>
          <p:nvPr/>
        </p:nvSpPr>
        <p:spPr>
          <a:xfrm>
            <a:off x="2425700" y="4598541"/>
            <a:ext cx="1371600" cy="177800"/>
          </a:xfrm>
          <a:prstGeom prst="roundRect">
            <a:avLst>
              <a:gd name="adj" fmla="val 14286"/>
            </a:avLst>
          </a:prstGeom>
          <a:solidFill>
            <a:srgbClr val="1BAF7A"/>
          </a:solidFill>
          <a:ln/>
        </p:spPr>
      </p:sp>
      <p:sp>
        <p:nvSpPr>
          <p:cNvPr id="32" name="Text 30"/>
          <p:cNvSpPr/>
          <p:nvPr/>
        </p:nvSpPr>
        <p:spPr>
          <a:xfrm>
            <a:off x="3860800" y="4571901"/>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6</a:t>
            </a:r>
            <a:endParaRPr lang="en-US" sz="1300" dirty="0"/>
          </a:p>
        </p:txBody>
      </p:sp>
      <p:sp>
        <p:nvSpPr>
          <p:cNvPr id="33" name="Text 31"/>
          <p:cNvSpPr/>
          <p:nvPr/>
        </p:nvSpPr>
        <p:spPr>
          <a:xfrm>
            <a:off x="812800" y="5055741"/>
            <a:ext cx="1511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43B"/>
                </a:solidFill>
                <a:latin typeface="IBM Plex Sans" pitchFamily="34" charset="0"/>
                <a:ea typeface="IBM Plex Sans" pitchFamily="34" charset="-122"/>
                <a:cs typeface="IBM Plex Sans" pitchFamily="34" charset="-120"/>
              </a:rPr>
              <a:t>bad_gold</a:t>
            </a:r>
            <a:endParaRPr lang="en-US" sz="1400" dirty="0"/>
          </a:p>
        </p:txBody>
      </p:sp>
      <p:sp>
        <p:nvSpPr>
          <p:cNvPr id="34" name="Shape 32"/>
          <p:cNvSpPr/>
          <p:nvPr/>
        </p:nvSpPr>
        <p:spPr>
          <a:xfrm>
            <a:off x="2425700" y="4956671"/>
            <a:ext cx="457200" cy="177800"/>
          </a:xfrm>
          <a:prstGeom prst="roundRect">
            <a:avLst>
              <a:gd name="adj" fmla="val 14286"/>
            </a:avLst>
          </a:prstGeom>
          <a:solidFill>
            <a:srgbClr val="8A93A3"/>
          </a:solidFill>
          <a:ln/>
        </p:spPr>
      </p:sp>
      <p:sp>
        <p:nvSpPr>
          <p:cNvPr id="35" name="Text 33"/>
          <p:cNvSpPr/>
          <p:nvPr/>
        </p:nvSpPr>
        <p:spPr>
          <a:xfrm>
            <a:off x="2946400" y="4930031"/>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2</a:t>
            </a:r>
            <a:endParaRPr lang="en-US" sz="1300" dirty="0"/>
          </a:p>
        </p:txBody>
      </p:sp>
      <p:sp>
        <p:nvSpPr>
          <p:cNvPr id="36" name="Shape 34"/>
          <p:cNvSpPr/>
          <p:nvPr/>
        </p:nvSpPr>
        <p:spPr>
          <a:xfrm>
            <a:off x="2425700" y="5225901"/>
            <a:ext cx="228600" cy="177800"/>
          </a:xfrm>
          <a:prstGeom prst="roundRect">
            <a:avLst>
              <a:gd name="adj" fmla="val 14286"/>
            </a:avLst>
          </a:prstGeom>
          <a:solidFill>
            <a:srgbClr val="1BAF7A"/>
          </a:solidFill>
          <a:ln/>
        </p:spPr>
      </p:sp>
      <p:sp>
        <p:nvSpPr>
          <p:cNvPr id="37" name="Text 35"/>
          <p:cNvSpPr/>
          <p:nvPr/>
        </p:nvSpPr>
        <p:spPr>
          <a:xfrm>
            <a:off x="2717800" y="5199261"/>
            <a:ext cx="368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3B"/>
                </a:solidFill>
                <a:latin typeface="IBM Plex Sans" pitchFamily="34" charset="0"/>
                <a:ea typeface="IBM Plex Sans" pitchFamily="34" charset="-122"/>
                <a:cs typeface="IBM Plex Sans" pitchFamily="34" charset="-120"/>
              </a:rPr>
              <a:t>1</a:t>
            </a:r>
            <a:endParaRPr lang="en-US" sz="1300" dirty="0"/>
          </a:p>
        </p:txBody>
      </p:sp>
      <p:sp>
        <p:nvSpPr>
          <p:cNvPr id="38" name="Text 36"/>
          <p:cNvSpPr/>
          <p:nvPr/>
        </p:nvSpPr>
        <p:spPr>
          <a:xfrm>
            <a:off x="7776617" y="2289771"/>
            <a:ext cx="366268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5FBF"/>
                </a:solidFill>
                <a:latin typeface="IBM Plex Sans" pitchFamily="34" charset="0"/>
                <a:ea typeface="IBM Plex Sans" pitchFamily="34" charset="-122"/>
                <a:cs typeface="IBM Plex Sans" pitchFamily="34" charset="-120"/>
              </a:rPr>
              <a:t>Zoom removes no_zoom errors</a:t>
            </a:r>
            <a:endParaRPr lang="en-US" sz="1600" dirty="0"/>
          </a:p>
        </p:txBody>
      </p:sp>
      <p:sp>
        <p:nvSpPr>
          <p:cNvPr id="39" name="Text 37"/>
          <p:cNvSpPr/>
          <p:nvPr/>
        </p:nvSpPr>
        <p:spPr>
          <a:xfrm>
            <a:off x="7776617" y="2581871"/>
            <a:ext cx="366268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1 left against 12 for A</a:t>
            </a:r>
            <a:endParaRPr lang="en-US" sz="1400" dirty="0"/>
          </a:p>
        </p:txBody>
      </p:sp>
      <p:sp>
        <p:nvSpPr>
          <p:cNvPr id="40" name="Text 38"/>
          <p:cNvSpPr/>
          <p:nvPr/>
        </p:nvSpPr>
        <p:spPr>
          <a:xfrm>
            <a:off x="7776617" y="2999681"/>
            <a:ext cx="366268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B4451A"/>
                </a:solidFill>
                <a:latin typeface="IBM Plex Sans" pitchFamily="34" charset="0"/>
                <a:ea typeface="IBM Plex Sans" pitchFamily="34" charset="-122"/>
                <a:cs typeface="IBM Plex Sans" pitchFamily="34" charset="-120"/>
              </a:rPr>
              <a:t>but adds wrong boxes</a:t>
            </a:r>
            <a:endParaRPr lang="en-US" sz="1600" dirty="0"/>
          </a:p>
        </p:txBody>
      </p:sp>
      <p:sp>
        <p:nvSpPr>
          <p:cNvPr id="41" name="Text 39"/>
          <p:cNvSpPr/>
          <p:nvPr/>
        </p:nvSpPr>
        <p:spPr>
          <a:xfrm>
            <a:off x="7776617" y="3291781"/>
            <a:ext cx="366268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10 against 0, so A and D both make 41 errors</a:t>
            </a:r>
            <a:endParaRPr lang="en-US" sz="1400" dirty="0"/>
          </a:p>
        </p:txBody>
      </p:sp>
      <p:sp>
        <p:nvSpPr>
          <p:cNvPr id="42" name="Text 40"/>
          <p:cNvSpPr/>
          <p:nvPr/>
        </p:nvSpPr>
        <p:spPr>
          <a:xfrm>
            <a:off x="7776617" y="3949601"/>
            <a:ext cx="366268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7243B"/>
                </a:solidFill>
                <a:latin typeface="IBM Plex Sans" pitchFamily="34" charset="0"/>
                <a:ea typeface="IBM Plex Sans" pitchFamily="34" charset="-122"/>
                <a:cs typeface="IBM Plex Sans" pitchFamily="34" charset="-120"/>
              </a:rPr>
              <a:t>A third of D’s errors are format</a:t>
            </a:r>
            <a:endParaRPr lang="en-US" sz="1600" dirty="0"/>
          </a:p>
        </p:txBody>
      </p:sp>
      <p:sp>
        <p:nvSpPr>
          <p:cNvPr id="43" name="Text 41"/>
          <p:cNvSpPr/>
          <p:nvPr/>
        </p:nvSpPr>
        <p:spPr>
          <a:xfrm>
            <a:off x="7776617" y="4241701"/>
            <a:ext cx="366268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C4656"/>
                </a:solidFill>
                <a:latin typeface="IBM Plex Sans" pitchFamily="34" charset="0"/>
                <a:ea typeface="IBM Plex Sans" pitchFamily="34" charset="-122"/>
                <a:cs typeface="IBM Plex Sans" pitchFamily="34" charset="-120"/>
              </a:rPr>
              <a:t>Right in meaning, wrong on exact match</a:t>
            </a:r>
            <a:endParaRPr lang="en-US" sz="1400" dirty="0"/>
          </a:p>
        </p:txBody>
      </p:sp>
      <p:sp>
        <p:nvSpPr>
          <p:cNvPr id="44" name="Text 4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45" name="Text 43"/>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14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Two cases</a:t>
            </a:r>
            <a:endParaRPr lang="en-US" sz="3000" dirty="0"/>
          </a:p>
        </p:txBody>
      </p:sp>
      <p:sp>
        <p:nvSpPr>
          <p:cNvPr id="3" name="Shape 1"/>
          <p:cNvSpPr/>
          <p:nvPr/>
        </p:nvSpPr>
        <p:spPr>
          <a:xfrm>
            <a:off x="2286000" y="1460500"/>
            <a:ext cx="7620000" cy="2336800"/>
          </a:xfrm>
          <a:prstGeom prst="roundRect">
            <a:avLst>
              <a:gd name="adj" fmla="val 2174"/>
            </a:avLst>
          </a:prstGeom>
          <a:solidFill>
            <a:srgbClr val="FFFFFF"/>
          </a:solidFill>
          <a:ln/>
        </p:spPr>
      </p:sp>
      <p:pic>
        <p:nvPicPr>
          <p:cNvPr id="4" name="Image 0" descr="Left: a results slide from a paper with a numbered box on the tallest bar of the first group. Right: the enlarged crop of that bar showing the value 85.7"/>
          <p:cNvPicPr>
            <a:picLocks noChangeAspect="1"/>
          </p:cNvPicPr>
          <p:nvPr/>
        </p:nvPicPr>
        <p:blipFill>
          <a:blip r:embed="rId3"/>
          <a:srcRect l="-186" r="-186"/>
          <a:stretch/>
        </p:blipFill>
        <p:spPr>
          <a:xfrm>
            <a:off x="2292350" y="1466850"/>
            <a:ext cx="7607300" cy="2324100"/>
          </a:xfrm>
          <a:prstGeom prst="roundRect">
            <a:avLst>
              <a:gd name="adj" fmla="val 1913"/>
            </a:avLst>
          </a:prstGeom>
        </p:spPr>
      </p:pic>
      <p:sp>
        <p:nvSpPr>
          <p:cNvPr id="5" name="Shape 2"/>
          <p:cNvSpPr/>
          <p:nvPr/>
        </p:nvSpPr>
        <p:spPr>
          <a:xfrm>
            <a:off x="2289175" y="1463675"/>
            <a:ext cx="7613650" cy="2330450"/>
          </a:xfrm>
          <a:prstGeom prst="roundRect">
            <a:avLst>
              <a:gd name="adj" fmla="val 2044"/>
            </a:avLst>
          </a:prstGeom>
          <a:noFill/>
          <a:ln w="6350">
            <a:solidFill>
              <a:srgbClr val="DDD8CC"/>
            </a:solidFill>
            <a:prstDash val="solid"/>
          </a:ln>
        </p:spPr>
      </p:sp>
      <p:sp>
        <p:nvSpPr>
          <p:cNvPr id="6" name="Shape 3"/>
          <p:cNvSpPr/>
          <p:nvPr/>
        </p:nvSpPr>
        <p:spPr>
          <a:xfrm>
            <a:off x="815975" y="3978275"/>
            <a:ext cx="5175250" cy="1466751"/>
          </a:xfrm>
          <a:prstGeom prst="roundRect">
            <a:avLst>
              <a:gd name="adj" fmla="val 6710"/>
            </a:avLst>
          </a:prstGeom>
          <a:solidFill>
            <a:srgbClr val="FFFFFF"/>
          </a:solidFill>
          <a:ln w="6350">
            <a:solidFill>
              <a:srgbClr val="DDD8CC"/>
            </a:solidFill>
            <a:prstDash val="solid"/>
          </a:ln>
        </p:spPr>
      </p:sp>
      <p:sp>
        <p:nvSpPr>
          <p:cNvPr id="7" name="Text 4"/>
          <p:cNvSpPr/>
          <p:nvPr/>
        </p:nvSpPr>
        <p:spPr>
          <a:xfrm>
            <a:off x="1022350" y="4184650"/>
            <a:ext cx="4905375"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12805C"/>
                </a:solidFill>
                <a:latin typeface="IBM Plex Sans" pitchFamily="34" charset="0"/>
                <a:ea typeface="IBM Plex Sans" pitchFamily="34" charset="-122"/>
                <a:cs typeface="IBM Plex Sans" pitchFamily="34" charset="-120"/>
              </a:rPr>
              <a:t>ZOOM WORKS</a:t>
            </a:r>
            <a:endParaRPr lang="en-US" sz="1300" dirty="0"/>
          </a:p>
        </p:txBody>
      </p:sp>
      <p:sp>
        <p:nvSpPr>
          <p:cNvPr id="8" name="Text 5"/>
          <p:cNvSpPr/>
          <p:nvPr/>
        </p:nvSpPr>
        <p:spPr>
          <a:xfrm>
            <a:off x="1022350" y="4491980"/>
            <a:ext cx="4905375"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6"/>
                </a:solidFill>
                <a:latin typeface="IBM Plex Sans" pitchFamily="34" charset="0"/>
                <a:ea typeface="IBM Plex Sans" pitchFamily="34" charset="-122"/>
                <a:cs typeface="IBM Plex Sans" pitchFamily="34" charset="-120"/>
              </a:rPr>
              <a:t>dense_12: asked for the value of DreamZero (Scratch) on task 2, D boxes the tallest bar and reads 85.7 in the crop. Gold: 85.7.</a:t>
            </a:r>
            <a:endParaRPr lang="en-US" sz="1400" dirty="0"/>
          </a:p>
        </p:txBody>
      </p:sp>
      <p:sp>
        <p:nvSpPr>
          <p:cNvPr id="9" name="Shape 6"/>
          <p:cNvSpPr/>
          <p:nvPr/>
        </p:nvSpPr>
        <p:spPr>
          <a:xfrm>
            <a:off x="6200775" y="3978275"/>
            <a:ext cx="5175250" cy="1466751"/>
          </a:xfrm>
          <a:prstGeom prst="roundRect">
            <a:avLst>
              <a:gd name="adj" fmla="val 6710"/>
            </a:avLst>
          </a:prstGeom>
          <a:solidFill>
            <a:srgbClr val="FFFFFF"/>
          </a:solidFill>
          <a:ln w="6350">
            <a:solidFill>
              <a:srgbClr val="DDD8CC"/>
            </a:solidFill>
            <a:prstDash val="solid"/>
          </a:ln>
        </p:spPr>
      </p:sp>
      <p:sp>
        <p:nvSpPr>
          <p:cNvPr id="10" name="Text 7"/>
          <p:cNvSpPr/>
          <p:nvPr/>
        </p:nvSpPr>
        <p:spPr>
          <a:xfrm>
            <a:off x="6407150" y="4184650"/>
            <a:ext cx="4905375"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451A"/>
                </a:solidFill>
                <a:latin typeface="IBM Plex Sans" pitchFamily="34" charset="0"/>
                <a:ea typeface="IBM Plex Sans" pitchFamily="34" charset="-122"/>
                <a:cs typeface="IBM Plex Sans" pitchFamily="34" charset="-120"/>
              </a:rPr>
              <a:t>RIGHT ANSWER, WRONG REGION</a:t>
            </a:r>
            <a:endParaRPr lang="en-US" sz="1300" dirty="0"/>
          </a:p>
        </p:txBody>
      </p:sp>
      <p:sp>
        <p:nvSpPr>
          <p:cNvPr id="11" name="Text 8"/>
          <p:cNvSpPr/>
          <p:nvPr/>
        </p:nvSpPr>
        <p:spPr>
          <a:xfrm>
            <a:off x="6407150" y="4491980"/>
            <a:ext cx="4905375"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C4656"/>
                </a:solidFill>
                <a:latin typeface="IBM Plex Sans" pitchFamily="34" charset="0"/>
                <a:ea typeface="IBM Plex Sans" pitchFamily="34" charset="-122"/>
                <a:cs typeface="IBM Plex Sans" pitchFamily="34" charset="-120"/>
              </a:rPr>
              <a:t>Will demonstrate in the demo.</a:t>
            </a:r>
            <a:endParaRPr lang="en-US" sz="140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3" name="Text 10"/>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15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43B"/>
                </a:solidFill>
                <a:latin typeface="Source Serif 4" pitchFamily="18" charset="0"/>
                <a:ea typeface="Source Serif 4" pitchFamily="18" charset="-122"/>
                <a:cs typeface="Source Serif 4" pitchFamily="18" charset="-120"/>
              </a:rPr>
              <a:t>Limitations</a:t>
            </a:r>
            <a:endParaRPr lang="en-US" sz="3000" dirty="0"/>
          </a:p>
        </p:txBody>
      </p:sp>
      <p:sp>
        <p:nvSpPr>
          <p:cNvPr id="3" name="Text 1"/>
          <p:cNvSpPr/>
          <p:nvPr/>
        </p:nvSpPr>
        <p:spPr>
          <a:xfrm>
            <a:off x="812800" y="2382837"/>
            <a:ext cx="10804652" cy="2092325"/>
          </a:xfrm>
          <a:prstGeom prst="rect">
            <a:avLst/>
          </a:prstGeom>
          <a:noFill/>
          <a:ln/>
        </p:spPr>
        <p:txBody>
          <a:bodyPr wrap="square" lIns="0" tIns="0" rIns="0" bIns="0" rtlCol="0" anchor="t">
            <a:normAutofit/>
          </a:bodyPr>
          <a:lstStyle/>
          <a:p>
            <a:pPr marL="182880" indent="-182880" algn="l">
              <a:lnSpc>
                <a:spcPts val="2325"/>
              </a:lnSpc>
              <a:buSzPct val="100000"/>
              <a:buChar char="•"/>
            </a:pPr>
            <a:r>
              <a:rPr lang="en-US" sz="1500" dirty="0">
                <a:solidFill>
                  <a:srgbClr val="3C4656"/>
                </a:solidFill>
                <a:latin typeface="IBM Plex Sans" pitchFamily="34" charset="0"/>
                <a:ea typeface="IBM Plex Sans" pitchFamily="34" charset="-122"/>
                <a:cs typeface="IBM Plex Sans" pitchFamily="34" charset="-120"/>
              </a:rPr>
              <a:t>SlideVQA slides are 1024 px wide, so zoom has no extra pixels there: its gain comes from more tokens per region and from </a:t>
            </a:r>
            <a:r>
              <a:rPr lang="en-US" sz="1500" dirty="0" err="1">
                <a:solidFill>
                  <a:srgbClr val="3C4656"/>
                </a:solidFill>
                <a:latin typeface="IBM Plex Sans" pitchFamily="34" charset="0"/>
                <a:ea typeface="IBM Plex Sans" pitchFamily="34" charset="-122"/>
                <a:cs typeface="IBM Plex Sans" pitchFamily="34" charset="-120"/>
              </a:rPr>
              <a:t>upsampling</a:t>
            </a:r>
            <a:r>
              <a:rPr lang="en-US" sz="1500" dirty="0">
                <a:solidFill>
                  <a:srgbClr val="3C4656"/>
                </a:solidFill>
                <a:latin typeface="IBM Plex Sans" pitchFamily="34" charset="0"/>
                <a:ea typeface="IBM Plex Sans" pitchFamily="34" charset="-122"/>
                <a:cs typeface="IBM Plex Sans" pitchFamily="34" charset="-120"/>
              </a:rPr>
              <a:t>.</a:t>
            </a:r>
            <a:endParaRPr lang="en-US" sz="1500" dirty="0"/>
          </a:p>
          <a:p>
            <a:pPr marL="182880" indent="-182880" algn="l">
              <a:lnSpc>
                <a:spcPts val="2325"/>
              </a:lnSpc>
              <a:buSzPct val="100000"/>
              <a:buChar char="•"/>
            </a:pPr>
            <a:r>
              <a:rPr lang="en-US" sz="1500" dirty="0">
                <a:solidFill>
                  <a:srgbClr val="3C4656"/>
                </a:solidFill>
                <a:latin typeface="IBM Plex Sans" pitchFamily="34" charset="0"/>
                <a:ea typeface="IBM Plex Sans" pitchFamily="34" charset="-122"/>
                <a:cs typeface="IBM Plex Sans" pitchFamily="34" charset="-120"/>
              </a:rPr>
              <a:t>Small VLM model, Qwen3-VL-4B in 4-bit; larger models were not tested.</a:t>
            </a:r>
            <a:endParaRPr lang="en-US" sz="1500" dirty="0"/>
          </a:p>
          <a:p>
            <a:pPr marL="182880" indent="-182880" algn="l">
              <a:lnSpc>
                <a:spcPts val="2325"/>
              </a:lnSpc>
              <a:buSzPct val="100000"/>
              <a:buChar char="•"/>
            </a:pPr>
            <a:r>
              <a:rPr lang="en-US" sz="1500" dirty="0">
                <a:solidFill>
                  <a:srgbClr val="3C4656"/>
                </a:solidFill>
                <a:latin typeface="IBM Plex Sans" pitchFamily="34" charset="0"/>
                <a:ea typeface="IBM Plex Sans" pitchFamily="34" charset="-122"/>
                <a:cs typeface="IBM Plex Sans" pitchFamily="34" charset="-120"/>
              </a:rPr>
              <a:t>Modes A to C use a text answer prompt, D and E use JSON.</a:t>
            </a:r>
            <a:endParaRPr lang="en-US" sz="1500" dirty="0"/>
          </a:p>
          <a:p>
            <a:pPr marL="182880" indent="-182880" algn="l">
              <a:lnSpc>
                <a:spcPts val="2325"/>
              </a:lnSpc>
              <a:buSzPct val="100000"/>
              <a:buChar char="•"/>
            </a:pPr>
            <a:r>
              <a:rPr lang="en-US" sz="1500" dirty="0">
                <a:solidFill>
                  <a:srgbClr val="3C4656"/>
                </a:solidFill>
                <a:latin typeface="IBM Plex Sans" pitchFamily="34" charset="0"/>
                <a:ea typeface="IBM Plex Sans" pitchFamily="34" charset="-122"/>
                <a:cs typeface="IBM Plex Sans" pitchFamily="34" charset="-120"/>
              </a:rPr>
              <a:t>Exact match penalises right answers in another format (“12.5 bn” and “12.5”), about a third of D’s errors.</a:t>
            </a:r>
            <a:endParaRPr lang="en-US" sz="1500" dirty="0"/>
          </a:p>
          <a:p>
            <a:pPr marL="182880" indent="-182880" algn="l">
              <a:lnSpc>
                <a:spcPts val="2325"/>
              </a:lnSpc>
              <a:buSzPct val="100000"/>
              <a:buChar char="•"/>
            </a:pPr>
            <a:r>
              <a:rPr lang="en-US" sz="1500" dirty="0">
                <a:solidFill>
                  <a:srgbClr val="3C4656"/>
                </a:solidFill>
                <a:latin typeface="IBM Plex Sans" pitchFamily="34" charset="0"/>
                <a:ea typeface="IBM Plex Sans" pitchFamily="34" charset="-122"/>
                <a:cs typeface="IBM Plex Sans" pitchFamily="34" charset="-120"/>
              </a:rPr>
              <a:t>The 40 own and dense questions are ours, on 17 slides, and the dense slides add </a:t>
            </a:r>
            <a:r>
              <a:rPr lang="en-US" sz="1500" dirty="0" err="1">
                <a:solidFill>
                  <a:srgbClr val="3C4656"/>
                </a:solidFill>
                <a:latin typeface="IBM Plex Sans" pitchFamily="34" charset="0"/>
                <a:ea typeface="IBM Plex Sans" pitchFamily="34" charset="-122"/>
                <a:cs typeface="IBM Plex Sans" pitchFamily="34" charset="-120"/>
              </a:rPr>
              <a:t>biad</a:t>
            </a:r>
            <a:r>
              <a:rPr lang="en-US" sz="1500" dirty="0">
                <a:solidFill>
                  <a:srgbClr val="3C4656"/>
                </a:solidFill>
                <a:latin typeface="IBM Plex Sans" pitchFamily="34" charset="0"/>
                <a:ea typeface="IBM Plex Sans" pitchFamily="34" charset="-122"/>
                <a:cs typeface="IBM Plex Sans" pitchFamily="34" charset="-120"/>
              </a:rPr>
              <a:t> with agents which work better with small text.</a:t>
            </a:r>
            <a:endParaRPr lang="en-US" sz="1500" dirty="0"/>
          </a:p>
        </p:txBody>
      </p:sp>
      <p:sp>
        <p:nvSpPr>
          <p:cNvPr id="4"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5" name="Text 3"/>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0"/>
                </a:solidFill>
                <a:latin typeface="IBM Plex Sans" pitchFamily="34" charset="0"/>
                <a:ea typeface="IBM Plex Sans" pitchFamily="34" charset="-122"/>
                <a:cs typeface="IBM Plex Sans" pitchFamily="34" charset="-120"/>
              </a:rPr>
              <a:t>16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AF8F3"/>
                </a:solidFill>
                <a:latin typeface="Source Serif 4" pitchFamily="18" charset="0"/>
                <a:ea typeface="Source Serif 4" pitchFamily="18" charset="-122"/>
                <a:cs typeface="Source Serif 4" pitchFamily="18" charset="-120"/>
              </a:rPr>
              <a:t>Conclusions</a:t>
            </a:r>
            <a:endParaRPr lang="en-US" sz="3000" dirty="0"/>
          </a:p>
        </p:txBody>
      </p:sp>
      <p:sp>
        <p:nvSpPr>
          <p:cNvPr id="3" name="Text 1"/>
          <p:cNvSpPr/>
          <p:nvPr/>
        </p:nvSpPr>
        <p:spPr>
          <a:xfrm>
            <a:off x="812800" y="2431831"/>
            <a:ext cx="5588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8DB6F2"/>
                </a:solidFill>
                <a:latin typeface="Source Serif 4" pitchFamily="18" charset="0"/>
                <a:ea typeface="Source Serif 4" pitchFamily="18" charset="-122"/>
                <a:cs typeface="Source Serif 4" pitchFamily="18" charset="-120"/>
              </a:rPr>
              <a:t>1</a:t>
            </a:r>
            <a:endParaRPr lang="en-US" sz="3200" dirty="0"/>
          </a:p>
        </p:txBody>
      </p:sp>
      <p:sp>
        <p:nvSpPr>
          <p:cNvPr id="4" name="Text 2"/>
          <p:cNvSpPr/>
          <p:nvPr/>
        </p:nvSpPr>
        <p:spPr>
          <a:xfrm>
            <a:off x="1524000" y="2431831"/>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AF8F3"/>
                </a:solidFill>
                <a:latin typeface="IBM Plex Sans" pitchFamily="34" charset="0"/>
                <a:ea typeface="IBM Plex Sans" pitchFamily="34" charset="-122"/>
                <a:cs typeface="IBM Plex Sans" pitchFamily="34" charset="-120"/>
              </a:rPr>
              <a:t>On 1024 px SlideVQA slides a bigger single view is the cheapest gain: 768 tokens give EM 0.79 and 1500 tokens 0.82, while the zoom agent scores 0.66 to 0.71 at 1770 to 2664 tokens.</a:t>
            </a:r>
            <a:endParaRPr lang="en-US" sz="1600" dirty="0"/>
          </a:p>
        </p:txBody>
      </p:sp>
      <p:sp>
        <p:nvSpPr>
          <p:cNvPr id="5" name="Text 3"/>
          <p:cNvSpPr/>
          <p:nvPr/>
        </p:nvSpPr>
        <p:spPr>
          <a:xfrm>
            <a:off x="812800" y="3178551"/>
            <a:ext cx="5588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8DB6F2"/>
                </a:solidFill>
                <a:latin typeface="Source Serif 4" pitchFamily="18" charset="0"/>
                <a:ea typeface="Source Serif 4" pitchFamily="18" charset="-122"/>
                <a:cs typeface="Source Serif 4" pitchFamily="18" charset="-120"/>
              </a:rPr>
              <a:t>2</a:t>
            </a:r>
            <a:endParaRPr lang="en-US" sz="3200" dirty="0"/>
          </a:p>
        </p:txBody>
      </p:sp>
      <p:sp>
        <p:nvSpPr>
          <p:cNvPr id="6" name="Text 4"/>
          <p:cNvSpPr/>
          <p:nvPr/>
        </p:nvSpPr>
        <p:spPr>
          <a:xfrm>
            <a:off x="1524000" y="3178551"/>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AF8F3"/>
                </a:solidFill>
                <a:latin typeface="IBM Plex Sans" pitchFamily="34" charset="0"/>
                <a:ea typeface="IBM Plex Sans" pitchFamily="34" charset="-122"/>
                <a:cs typeface="IBM Plex Sans" pitchFamily="34" charset="-120"/>
              </a:rPr>
              <a:t>On 2560 px slides zoom lifts D from 0.62 (A) to 0.85, but A at 768 tokens (0.90) and B (0.93) are within noise range. Fixed tiles score highest on dense small print (0.95).</a:t>
            </a:r>
            <a:endParaRPr lang="en-US" sz="1600" dirty="0"/>
          </a:p>
        </p:txBody>
      </p:sp>
      <p:sp>
        <p:nvSpPr>
          <p:cNvPr id="7" name="Text 5"/>
          <p:cNvSpPr/>
          <p:nvPr/>
        </p:nvSpPr>
        <p:spPr>
          <a:xfrm>
            <a:off x="812800" y="3925272"/>
            <a:ext cx="5588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8DB6F2"/>
                </a:solidFill>
                <a:latin typeface="Source Serif 4" pitchFamily="18" charset="0"/>
                <a:ea typeface="Source Serif 4" pitchFamily="18" charset="-122"/>
                <a:cs typeface="Source Serif 4" pitchFamily="18" charset="-120"/>
              </a:rPr>
              <a:t>3</a:t>
            </a:r>
            <a:endParaRPr lang="en-US" sz="3200" dirty="0"/>
          </a:p>
        </p:txBody>
      </p:sp>
      <p:sp>
        <p:nvSpPr>
          <p:cNvPr id="8" name="Text 6"/>
          <p:cNvSpPr/>
          <p:nvPr/>
        </p:nvSpPr>
        <p:spPr>
          <a:xfrm>
            <a:off x="1524000" y="3925272"/>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AF8F3"/>
                </a:solidFill>
                <a:latin typeface="IBM Plex Sans" pitchFamily="34" charset="0"/>
                <a:ea typeface="IBM Plex Sans" pitchFamily="34" charset="-122"/>
                <a:cs typeface="IBM Plex Sans" pitchFamily="34" charset="-120"/>
              </a:rPr>
              <a:t>Zoom fixes text that is too small to read (1 such error left against 12) and adds wrong-box errors (10 against 0). A third of D’s errors are format mismatches, so exact match understates both modes.</a:t>
            </a:r>
            <a:endParaRPr lang="en-US" sz="16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D0"/>
                </a:solidFill>
                <a:latin typeface="IBM Plex Sans" pitchFamily="34" charset="0"/>
                <a:ea typeface="IBM Plex Sans" pitchFamily="34" charset="-122"/>
                <a:cs typeface="IBM Plex Sans" pitchFamily="34" charset="-120"/>
              </a:rPr>
              <a:t>Voronin, Vasilevykh · Slides under a magnifying glass</a:t>
            </a:r>
            <a:endParaRPr lang="en-US" sz="1200" dirty="0"/>
          </a:p>
        </p:txBody>
      </p:sp>
      <p:sp>
        <p:nvSpPr>
          <p:cNvPr id="10" name="Text 8"/>
          <p:cNvSpPr/>
          <p:nvPr/>
        </p:nvSpPr>
        <p:spPr>
          <a:xfrm>
            <a:off x="9469374" y="6238280"/>
            <a:ext cx="190982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EBBD0"/>
                </a:solidFill>
                <a:latin typeface="IBM Plex Sans" pitchFamily="34" charset="0"/>
                <a:ea typeface="IBM Plex Sans" pitchFamily="34" charset="-122"/>
                <a:cs typeface="IBM Plex Sans" pitchFamily="34" charset="-120"/>
              </a:rPr>
              <a:t>17 / 17</a:t>
            </a:r>
            <a:endParaRPr lang="en-US" sz="1200" dirty="0"/>
          </a:p>
        </p:txBody>
      </p:sp>
    </p:spTree>
  </p:cSld>
  <p:clrMapOvr>
    <a:masterClrMapping/>
  </p:clrMapOvr>
</p:sld>
</file>

<file path=ppt/theme/theme1.xml><?xml version="1.0" encoding="utf-8"?>
<a:theme xmlns:a="http://schemas.openxmlformats.org/drawingml/2006/main" name="Slides under a magnifying glass">
  <a:themeElements>
    <a:clrScheme name="Slides under a magnifying glass">
      <a:dk1>
        <a:srgbClr val="17243B"/>
      </a:dk1>
      <a:lt1>
        <a:srgbClr val="FAF8F3"/>
      </a:lt1>
      <a:dk2>
        <a:srgbClr val="505969"/>
      </a:dk2>
      <a:lt2>
        <a:srgbClr val="E3E3E1"/>
      </a:lt2>
      <a:accent1>
        <a:srgbClr val="1F5FBF"/>
      </a:accent1>
      <a:accent2>
        <a:srgbClr val="1BAF7A"/>
      </a:accent2>
      <a:accent3>
        <a:srgbClr val="8DB6F2"/>
      </a:accent3>
      <a:accent4>
        <a:srgbClr val="12805C"/>
      </a:accent4>
      <a:accent5>
        <a:srgbClr val="B4451A"/>
      </a:accent5>
      <a:accent6>
        <a:srgbClr val="3C4656"/>
      </a:accent6>
      <a:hlink>
        <a:srgbClr val="0563C1"/>
      </a:hlink>
      <a:folHlink>
        <a:srgbClr val="954F72"/>
      </a:folHlink>
    </a:clrScheme>
    <a:fontScheme name="Slides under a magnifying glass">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2784</Words>
  <Application>Microsoft Macintosh PowerPoint</Application>
  <PresentationFormat>Widescreen</PresentationFormat>
  <Paragraphs>240</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IBM Plex Mono</vt:lpstr>
      <vt:lpstr>IBM Plex Sans</vt:lpstr>
      <vt:lpstr>Source Serif 4</vt:lpstr>
      <vt:lpstr>Slides under a magnifying glass</vt:lpstr>
      <vt:lpstr>Slides under a magnifying glass</vt:lpstr>
      <vt:lpstr>Research questions</vt:lpstr>
      <vt:lpstr>The zoom agent</vt:lpstr>
      <vt:lpstr>Viewing modes</vt:lpstr>
      <vt:lpstr>Data</vt:lpstr>
      <vt:lpstr>Metrics and statistics</vt:lpstr>
      <vt:lpstr>Accuracy by mode on SlideVQA</vt:lpstr>
      <vt:lpstr>Paired comparisons</vt:lpstr>
      <vt:lpstr>Answer type and zoom usage</vt:lpstr>
      <vt:lpstr>Overview budget: 256 against 768 tokens</vt:lpstr>
      <vt:lpstr>Accuracy against cost</vt:lpstr>
      <vt:lpstr>Own and dense slides, @ 2560 px</vt:lpstr>
      <vt:lpstr>Heatmap by detail type on 20 own questions</vt:lpstr>
      <vt:lpstr>Error analysis on SlideVQA test</vt:lpstr>
      <vt:lpstr>Two cases</vt:lpstr>
      <vt:lpstr>Limitations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under a magnifying glass</dc:title>
  <dc:subject/>
  <dc:creator/>
  <cp:lastModifiedBy>Влад Воронин</cp:lastModifiedBy>
  <cp:revision>11</cp:revision>
  <dcterms:created xsi:type="dcterms:W3CDTF">2026-10-25T09:04:50Z</dcterms:created>
  <dcterms:modified xsi:type="dcterms:W3CDTF">2026-10-25T13:09:24Z</dcterms:modified>
</cp:coreProperties>
</file>